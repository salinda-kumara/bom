
<file path=[Content_Types].xml><?xml version="1.0" encoding="utf-8"?>
<Types xmlns="http://schemas.openxmlformats.org/package/2006/content-types">
  <Default Extension="emf" ContentType="image/x-emf"/>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9" r:id="rId4"/>
    <p:sldId id="260" r:id="rId5"/>
    <p:sldId id="261" r:id="rId6"/>
    <p:sldId id="273" r:id="rId7"/>
    <p:sldId id="274" r:id="rId8"/>
    <p:sldId id="275" r:id="rId9"/>
    <p:sldId id="276" r:id="rId10"/>
    <p:sldId id="277" r:id="rId11"/>
    <p:sldId id="264" r:id="rId12"/>
    <p:sldId id="25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3B3310-C3C0-4AFC-8B99-AB826513496D}" v="48" dt="2025-04-30T08:00:23.5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4" d="100"/>
          <a:sy n="64" d="100"/>
        </p:scale>
        <p:origin x="748"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manushag\Downloads\Lecture%20Total%20Count%20in%20Month.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manushag\Downloads\Lecture%20Total%20Count%20in%20Month.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manushag\Downloads\15-18%20Summary.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sz="1260" b="1" i="0" u="none" strike="noStrike" kern="1200" spc="0" baseline="0">
                <a:solidFill>
                  <a:schemeClr val="tx1">
                    <a:lumMod val="65000"/>
                    <a:lumOff val="35000"/>
                  </a:schemeClr>
                </a:solidFill>
                <a:latin typeface="+mn-lt"/>
                <a:ea typeface="+mn-ea"/>
                <a:cs typeface="+mn-cs"/>
              </a:defRPr>
            </a:pPr>
            <a:r>
              <a:rPr lang="en-US"/>
              <a:t>Lecture Sessions Conducted - June (up to 27th)</a:t>
            </a:r>
          </a:p>
        </c:rich>
      </c:tx>
      <c:layout>
        <c:manualLayout>
          <c:xMode val="edge"/>
          <c:yMode val="edge"/>
          <c:x val="8.1312335958005244E-2"/>
          <c:y val="0"/>
        </c:manualLayout>
      </c:layout>
      <c:overlay val="0"/>
      <c:spPr>
        <a:noFill/>
        <a:ln>
          <a:noFill/>
        </a:ln>
        <a:effectLst/>
      </c:spPr>
      <c:txPr>
        <a:bodyPr rot="0" spcFirstLastPara="1" vertOverflow="ellipsis" vert="horz" wrap="square" anchor="ctr" anchorCtr="1"/>
        <a:lstStyle/>
        <a:p>
          <a:pPr algn="ctr" rtl="0">
            <a:defRPr sz="126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7355630325467933"/>
          <c:y val="0.18969372939496876"/>
          <c:w val="0.79761754327186296"/>
          <c:h val="0.58545635640085392"/>
        </c:manualLayout>
      </c:layout>
      <c:barChart>
        <c:barDir val="bar"/>
        <c:grouping val="clustered"/>
        <c:varyColors val="0"/>
        <c:ser>
          <c:idx val="0"/>
          <c:order val="0"/>
          <c:tx>
            <c:strRef>
              <c:f>Sheet2!$D$6</c:f>
              <c:strCache>
                <c:ptCount val="1"/>
                <c:pt idx="0">
                  <c:v>WE</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5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Sheet2!$E$5:$F$5</c:f>
              <c:strCache>
                <c:ptCount val="2"/>
                <c:pt idx="0">
                  <c:v>Applietd Accounting </c:v>
                </c:pt>
                <c:pt idx="1">
                  <c:v>Business Analytics</c:v>
                </c:pt>
              </c:strCache>
            </c:strRef>
          </c:cat>
          <c:val>
            <c:numRef>
              <c:f>Sheet2!$E$6:$F$6</c:f>
              <c:numCache>
                <c:formatCode>General</c:formatCode>
                <c:ptCount val="2"/>
                <c:pt idx="0">
                  <c:v>197</c:v>
                </c:pt>
                <c:pt idx="1">
                  <c:v>109</c:v>
                </c:pt>
              </c:numCache>
            </c:numRef>
          </c:val>
          <c:extLst>
            <c:ext xmlns:c16="http://schemas.microsoft.com/office/drawing/2014/chart" uri="{C3380CC4-5D6E-409C-BE32-E72D297353CC}">
              <c16:uniqueId val="{00000000-B9FA-4678-957F-B281047440DA}"/>
            </c:ext>
          </c:extLst>
        </c:ser>
        <c:ser>
          <c:idx val="1"/>
          <c:order val="1"/>
          <c:tx>
            <c:strRef>
              <c:f>Sheet2!$D$7</c:f>
              <c:strCache>
                <c:ptCount val="1"/>
                <c:pt idx="0">
                  <c:v>WD</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5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Sheet2!$E$5:$F$5</c:f>
              <c:strCache>
                <c:ptCount val="2"/>
                <c:pt idx="0">
                  <c:v>Applietd Accounting </c:v>
                </c:pt>
                <c:pt idx="1">
                  <c:v>Business Analytics</c:v>
                </c:pt>
              </c:strCache>
            </c:strRef>
          </c:cat>
          <c:val>
            <c:numRef>
              <c:f>Sheet2!$E$7:$F$7</c:f>
              <c:numCache>
                <c:formatCode>General</c:formatCode>
                <c:ptCount val="2"/>
                <c:pt idx="0">
                  <c:v>102</c:v>
                </c:pt>
                <c:pt idx="1">
                  <c:v>62</c:v>
                </c:pt>
              </c:numCache>
            </c:numRef>
          </c:val>
          <c:extLst>
            <c:ext xmlns:c16="http://schemas.microsoft.com/office/drawing/2014/chart" uri="{C3380CC4-5D6E-409C-BE32-E72D297353CC}">
              <c16:uniqueId val="{00000001-B9FA-4678-957F-B281047440DA}"/>
            </c:ext>
          </c:extLst>
        </c:ser>
        <c:dLbls>
          <c:dLblPos val="outEnd"/>
          <c:showLegendKey val="0"/>
          <c:showVal val="1"/>
          <c:showCatName val="0"/>
          <c:showSerName val="0"/>
          <c:showPercent val="0"/>
          <c:showBubbleSize val="0"/>
        </c:dLbls>
        <c:gapWidth val="182"/>
        <c:axId val="737860064"/>
        <c:axId val="737860544"/>
      </c:barChart>
      <c:catAx>
        <c:axId val="73786006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endParaRPr lang="en-US"/>
          </a:p>
        </c:txPr>
        <c:crossAx val="737860544"/>
        <c:crosses val="autoZero"/>
        <c:auto val="1"/>
        <c:lblAlgn val="ctr"/>
        <c:lblOffset val="100"/>
        <c:noMultiLvlLbl val="0"/>
      </c:catAx>
      <c:valAx>
        <c:axId val="73786054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endParaRPr lang="en-US"/>
          </a:p>
        </c:txPr>
        <c:crossAx val="73786006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1050" b="1"/>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Sheet3!$H$4</c:f>
              <c:strCache>
                <c:ptCount val="1"/>
                <c:pt idx="0">
                  <c:v>%</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E246-4790-9440-0A5DD38CDC55}"/>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E246-4790-9440-0A5DD38CDC55}"/>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E246-4790-9440-0A5DD38CDC55}"/>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Sheet3!$G$5:$G$7</c:f>
              <c:strCache>
                <c:ptCount val="3"/>
                <c:pt idx="0">
                  <c:v>Completed*</c:v>
                </c:pt>
                <c:pt idx="1">
                  <c:v>In-Progress*</c:v>
                </c:pt>
                <c:pt idx="2">
                  <c:v>Confirmed Dropouts</c:v>
                </c:pt>
              </c:strCache>
            </c:strRef>
          </c:cat>
          <c:val>
            <c:numRef>
              <c:f>Sheet3!$H$5:$H$7</c:f>
              <c:numCache>
                <c:formatCode>General</c:formatCode>
                <c:ptCount val="3"/>
                <c:pt idx="0">
                  <c:v>64.3</c:v>
                </c:pt>
                <c:pt idx="1">
                  <c:v>22.9</c:v>
                </c:pt>
                <c:pt idx="2">
                  <c:v>12.8</c:v>
                </c:pt>
              </c:numCache>
            </c:numRef>
          </c:val>
          <c:extLst>
            <c:ext xmlns:c16="http://schemas.microsoft.com/office/drawing/2014/chart" uri="{C3380CC4-5D6E-409C-BE32-E72D297353CC}">
              <c16:uniqueId val="{00000006-E246-4790-9440-0A5DD38CDC55}"/>
            </c:ext>
          </c:extLst>
        </c:ser>
        <c:dLbls>
          <c:dLblPos val="outEnd"/>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0" i="0" u="none" strike="noStrike" kern="1200" spc="0" baseline="0">
                <a:solidFill>
                  <a:schemeClr val="tx1">
                    <a:lumMod val="65000"/>
                    <a:lumOff val="35000"/>
                  </a:schemeClr>
                </a:solidFill>
                <a:latin typeface="+mn-lt"/>
                <a:ea typeface="+mn-ea"/>
                <a:cs typeface="+mn-cs"/>
              </a:defRPr>
            </a:pPr>
            <a:r>
              <a:rPr lang="en-US"/>
              <a:t>Intake 15</a:t>
            </a: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B5C0-4B28-AEB1-D6DA32C83437}"/>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B5C0-4B28-AEB1-D6DA32C83437}"/>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B5C0-4B28-AEB1-D6DA32C83437}"/>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B5C0-4B28-AEB1-D6DA32C83437}"/>
              </c:ext>
            </c:extLst>
          </c:dPt>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Sheet1!$E$7:$E$10</c:f>
              <c:strCache>
                <c:ptCount val="4"/>
                <c:pt idx="0">
                  <c:v>2024 Convocation</c:v>
                </c:pt>
                <c:pt idx="1">
                  <c:v>2025 Convocation Expected(Sp)</c:v>
                </c:pt>
                <c:pt idx="2">
                  <c:v>2025 Convocation Expected(Gen)</c:v>
                </c:pt>
                <c:pt idx="3">
                  <c:v>Inactive / Dropped</c:v>
                </c:pt>
              </c:strCache>
            </c:strRef>
          </c:cat>
          <c:val>
            <c:numRef>
              <c:f>Sheet1!$F$7:$F$10</c:f>
              <c:numCache>
                <c:formatCode>0%</c:formatCode>
                <c:ptCount val="4"/>
                <c:pt idx="0">
                  <c:v>0.10164835164835165</c:v>
                </c:pt>
                <c:pt idx="1">
                  <c:v>0.40109890109890112</c:v>
                </c:pt>
                <c:pt idx="2">
                  <c:v>0.20054945054945056</c:v>
                </c:pt>
                <c:pt idx="3">
                  <c:v>0.12362637362637363</c:v>
                </c:pt>
              </c:numCache>
            </c:numRef>
          </c:val>
          <c:extLst>
            <c:ext xmlns:c16="http://schemas.microsoft.com/office/drawing/2014/chart" uri="{C3380CC4-5D6E-409C-BE32-E72D297353CC}">
              <c16:uniqueId val="{00000008-B5C0-4B28-AEB1-D6DA32C83437}"/>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1200"/>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80" b="1" i="0" u="none" strike="noStrike" kern="1200" baseline="0">
                <a:solidFill>
                  <a:schemeClr val="tx2"/>
                </a:solidFill>
                <a:latin typeface="+mn-lt"/>
                <a:ea typeface="+mn-ea"/>
                <a:cs typeface="+mn-cs"/>
              </a:defRPr>
            </a:pPr>
            <a:r>
              <a:rPr lang="en-US"/>
              <a:t>Intake 16</a:t>
            </a:r>
          </a:p>
        </c:rich>
      </c:tx>
      <c:overlay val="0"/>
      <c:spPr>
        <a:noFill/>
        <a:ln>
          <a:noFill/>
        </a:ln>
        <a:effectLst/>
      </c:spPr>
      <c:txPr>
        <a:bodyPr rot="0" spcFirstLastPara="1" vertOverflow="ellipsis" vert="horz" wrap="square" anchor="ctr" anchorCtr="1"/>
        <a:lstStyle/>
        <a:p>
          <a:pPr>
            <a:defRPr sz="1680" b="1" i="0" u="none" strike="noStrike" kern="1200" baseline="0">
              <a:solidFill>
                <a:schemeClr val="tx2"/>
              </a:solidFill>
              <a:latin typeface="+mn-lt"/>
              <a:ea typeface="+mn-ea"/>
              <a:cs typeface="+mn-cs"/>
            </a:defRPr>
          </a:pPr>
          <a:endParaRPr lang="en-US"/>
        </a:p>
      </c:txPr>
    </c:title>
    <c:autoTitleDeleted val="0"/>
    <c:plotArea>
      <c:layout/>
      <c:pieChart>
        <c:varyColors val="1"/>
        <c:ser>
          <c:idx val="0"/>
          <c:order val="0"/>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extLst>
              <c:ext xmlns:c16="http://schemas.microsoft.com/office/drawing/2014/chart" uri="{C3380CC4-5D6E-409C-BE32-E72D297353CC}">
                <c16:uniqueId val="{00000001-98AA-460D-95C9-7DE9C936DB4E}"/>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extLst>
              <c:ext xmlns:c16="http://schemas.microsoft.com/office/drawing/2014/chart" uri="{C3380CC4-5D6E-409C-BE32-E72D297353CC}">
                <c16:uniqueId val="{00000003-98AA-460D-95C9-7DE9C936DB4E}"/>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extLst>
              <c:ext xmlns:c16="http://schemas.microsoft.com/office/drawing/2014/chart" uri="{C3380CC4-5D6E-409C-BE32-E72D297353CC}">
                <c16:uniqueId val="{00000005-98AA-460D-95C9-7DE9C936DB4E}"/>
              </c:ext>
            </c:extLst>
          </c:dPt>
          <c:dPt>
            <c:idx val="3"/>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c:spPr>
            <c:extLst>
              <c:ext xmlns:c16="http://schemas.microsoft.com/office/drawing/2014/chart" uri="{C3380CC4-5D6E-409C-BE32-E72D297353CC}">
                <c16:uniqueId val="{00000007-98AA-460D-95C9-7DE9C936DB4E}"/>
              </c:ext>
            </c:extLst>
          </c:dPt>
          <c:dLbls>
            <c:spPr>
              <a:noFill/>
              <a:ln>
                <a:noFill/>
              </a:ln>
              <a:effectLst/>
            </c:spPr>
            <c:txPr>
              <a:bodyPr rot="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a:solidFill>
                    <a:schemeClr val="tx2">
                      <a:lumMod val="35000"/>
                      <a:lumOff val="65000"/>
                    </a:schemeClr>
                  </a:solidFill>
                </a:ln>
                <a:effectLst/>
              </c:spPr>
            </c:leaderLines>
            <c:extLst>
              <c:ext xmlns:c15="http://schemas.microsoft.com/office/drawing/2012/chart" uri="{CE6537A1-D6FC-4f65-9D91-7224C49458BB}"/>
            </c:extLst>
          </c:dLbls>
          <c:cat>
            <c:strRef>
              <c:f>Sheet4!$B$18:$B$21</c:f>
              <c:strCache>
                <c:ptCount val="4"/>
                <c:pt idx="0">
                  <c:v>2024 Convocation</c:v>
                </c:pt>
                <c:pt idx="1">
                  <c:v>Active</c:v>
                </c:pt>
                <c:pt idx="2">
                  <c:v>Inactive</c:v>
                </c:pt>
                <c:pt idx="3">
                  <c:v>Dropped</c:v>
                </c:pt>
              </c:strCache>
            </c:strRef>
          </c:cat>
          <c:val>
            <c:numRef>
              <c:f>Sheet4!$C$18:$C$21</c:f>
              <c:numCache>
                <c:formatCode>0.0</c:formatCode>
                <c:ptCount val="4"/>
                <c:pt idx="0">
                  <c:v>10.547667342799189</c:v>
                </c:pt>
                <c:pt idx="1">
                  <c:v>70.791075050709935</c:v>
                </c:pt>
                <c:pt idx="2">
                  <c:v>15.821501014198782</c:v>
                </c:pt>
                <c:pt idx="3">
                  <c:v>2.8397565922920891</c:v>
                </c:pt>
              </c:numCache>
            </c:numRef>
          </c:val>
          <c:extLst>
            <c:ext xmlns:c16="http://schemas.microsoft.com/office/drawing/2014/chart" uri="{C3380CC4-5D6E-409C-BE32-E72D297353CC}">
              <c16:uniqueId val="{00000008-98AA-460D-95C9-7DE9C936DB4E}"/>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US"/>
        </a:p>
      </c:txPr>
    </c:legend>
    <c:plotVisOnly val="1"/>
    <c:dispBlanksAs val="gap"/>
    <c:showDLblsOverMax val="0"/>
  </c:chart>
  <c:spPr>
    <a:noFill/>
    <a:ln>
      <a:noFill/>
    </a:ln>
    <a:effectLst/>
  </c:spPr>
  <c:txPr>
    <a:bodyPr/>
    <a:lstStyle/>
    <a:p>
      <a:pPr>
        <a:defRPr sz="1400"/>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80" b="0" i="0" u="none" strike="noStrike" kern="1200" spc="0" baseline="0">
                <a:solidFill>
                  <a:schemeClr val="tx1">
                    <a:lumMod val="65000"/>
                    <a:lumOff val="35000"/>
                  </a:schemeClr>
                </a:solidFill>
                <a:latin typeface="+mn-lt"/>
                <a:ea typeface="+mn-ea"/>
                <a:cs typeface="+mn-cs"/>
              </a:defRPr>
            </a:pPr>
            <a:r>
              <a:rPr lang="en-US"/>
              <a:t>Intake 17</a:t>
            </a:r>
          </a:p>
        </c:rich>
      </c:tx>
      <c:overlay val="0"/>
      <c:spPr>
        <a:noFill/>
        <a:ln>
          <a:noFill/>
        </a:ln>
        <a:effectLst/>
      </c:spPr>
      <c:txPr>
        <a:bodyPr rot="0" spcFirstLastPara="1" vertOverflow="ellipsis" vert="horz" wrap="square" anchor="ctr" anchorCtr="1"/>
        <a:lstStyle/>
        <a:p>
          <a:pPr>
            <a:defRPr sz="168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6"/>
              </a:solidFill>
              <a:ln w="19050">
                <a:solidFill>
                  <a:schemeClr val="lt1"/>
                </a:solidFill>
              </a:ln>
              <a:effectLst/>
            </c:spPr>
            <c:extLst>
              <c:ext xmlns:c16="http://schemas.microsoft.com/office/drawing/2014/chart" uri="{C3380CC4-5D6E-409C-BE32-E72D297353CC}">
                <c16:uniqueId val="{00000001-72A1-49AE-8CBC-3DE5BF0A2B4A}"/>
              </c:ext>
            </c:extLst>
          </c:dPt>
          <c:dPt>
            <c:idx val="1"/>
            <c:bubble3D val="0"/>
            <c:spPr>
              <a:solidFill>
                <a:schemeClr val="accent5"/>
              </a:solidFill>
              <a:ln w="19050">
                <a:solidFill>
                  <a:schemeClr val="lt1"/>
                </a:solidFill>
              </a:ln>
              <a:effectLst/>
            </c:spPr>
            <c:extLst>
              <c:ext xmlns:c16="http://schemas.microsoft.com/office/drawing/2014/chart" uri="{C3380CC4-5D6E-409C-BE32-E72D297353CC}">
                <c16:uniqueId val="{00000003-72A1-49AE-8CBC-3DE5BF0A2B4A}"/>
              </c:ext>
            </c:extLst>
          </c:dPt>
          <c:dPt>
            <c:idx val="2"/>
            <c:bubble3D val="0"/>
            <c:spPr>
              <a:solidFill>
                <a:schemeClr val="accent4"/>
              </a:solidFill>
              <a:ln w="19050">
                <a:solidFill>
                  <a:schemeClr val="lt1"/>
                </a:solidFill>
              </a:ln>
              <a:effectLst/>
            </c:spPr>
            <c:extLst>
              <c:ext xmlns:c16="http://schemas.microsoft.com/office/drawing/2014/chart" uri="{C3380CC4-5D6E-409C-BE32-E72D297353CC}">
                <c16:uniqueId val="{00000005-72A1-49AE-8CBC-3DE5BF0A2B4A}"/>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Sheet4!$B$11:$B$13</c:f>
              <c:strCache>
                <c:ptCount val="3"/>
                <c:pt idx="0">
                  <c:v>Active</c:v>
                </c:pt>
                <c:pt idx="1">
                  <c:v>Inactive</c:v>
                </c:pt>
                <c:pt idx="2">
                  <c:v>Dropped</c:v>
                </c:pt>
              </c:strCache>
            </c:strRef>
          </c:cat>
          <c:val>
            <c:numRef>
              <c:f>Sheet4!$C$11:$C$13</c:f>
              <c:numCache>
                <c:formatCode>0.0</c:formatCode>
                <c:ptCount val="3"/>
                <c:pt idx="0">
                  <c:v>84.240687679083095</c:v>
                </c:pt>
                <c:pt idx="1">
                  <c:v>5.7306590257879657</c:v>
                </c:pt>
                <c:pt idx="2">
                  <c:v>10.028653295128938</c:v>
                </c:pt>
              </c:numCache>
            </c:numRef>
          </c:val>
          <c:extLst>
            <c:ext xmlns:c16="http://schemas.microsoft.com/office/drawing/2014/chart" uri="{C3380CC4-5D6E-409C-BE32-E72D297353CC}">
              <c16:uniqueId val="{00000006-72A1-49AE-8CBC-3DE5BF0A2B4A}"/>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1400"/>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r>
              <a:rPr lang="en-US"/>
              <a:t>Intake 18</a:t>
            </a:r>
          </a:p>
        </c:rich>
      </c:tx>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6"/>
              </a:solidFill>
              <a:ln w="19050">
                <a:solidFill>
                  <a:schemeClr val="lt1"/>
                </a:solidFill>
              </a:ln>
              <a:effectLst/>
            </c:spPr>
            <c:extLst>
              <c:ext xmlns:c16="http://schemas.microsoft.com/office/drawing/2014/chart" uri="{C3380CC4-5D6E-409C-BE32-E72D297353CC}">
                <c16:uniqueId val="{00000001-C37B-4AD9-B57E-E93F72CF245D}"/>
              </c:ext>
            </c:extLst>
          </c:dPt>
          <c:dPt>
            <c:idx val="1"/>
            <c:bubble3D val="0"/>
            <c:spPr>
              <a:solidFill>
                <a:schemeClr val="accent5"/>
              </a:solidFill>
              <a:ln w="19050">
                <a:solidFill>
                  <a:schemeClr val="lt1"/>
                </a:solidFill>
              </a:ln>
              <a:effectLst/>
            </c:spPr>
            <c:extLst>
              <c:ext xmlns:c16="http://schemas.microsoft.com/office/drawing/2014/chart" uri="{C3380CC4-5D6E-409C-BE32-E72D297353CC}">
                <c16:uniqueId val="{00000003-C37B-4AD9-B57E-E93F72CF245D}"/>
              </c:ext>
            </c:extLst>
          </c:dPt>
          <c:dPt>
            <c:idx val="2"/>
            <c:bubble3D val="0"/>
            <c:spPr>
              <a:solidFill>
                <a:schemeClr val="accent4"/>
              </a:solidFill>
              <a:ln w="19050">
                <a:solidFill>
                  <a:schemeClr val="lt1"/>
                </a:solidFill>
              </a:ln>
              <a:effectLst/>
            </c:spPr>
            <c:extLst>
              <c:ext xmlns:c16="http://schemas.microsoft.com/office/drawing/2014/chart" uri="{C3380CC4-5D6E-409C-BE32-E72D297353CC}">
                <c16:uniqueId val="{00000005-C37B-4AD9-B57E-E93F72CF245D}"/>
              </c:ext>
            </c:extLst>
          </c:dPt>
          <c:dLbls>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Sheet4!$B$4:$B$6</c:f>
              <c:strCache>
                <c:ptCount val="3"/>
                <c:pt idx="0">
                  <c:v>Active</c:v>
                </c:pt>
                <c:pt idx="1">
                  <c:v>Inactive</c:v>
                </c:pt>
                <c:pt idx="2">
                  <c:v>Dropped</c:v>
                </c:pt>
              </c:strCache>
            </c:strRef>
          </c:cat>
          <c:val>
            <c:numRef>
              <c:f>Sheet4!$C$4:$C$6</c:f>
              <c:numCache>
                <c:formatCode>0.0</c:formatCode>
                <c:ptCount val="3"/>
                <c:pt idx="0">
                  <c:v>82.35294117647058</c:v>
                </c:pt>
                <c:pt idx="1">
                  <c:v>13.176470588235295</c:v>
                </c:pt>
                <c:pt idx="2">
                  <c:v>4.4705882352941178</c:v>
                </c:pt>
              </c:numCache>
            </c:numRef>
          </c:val>
          <c:extLst>
            <c:ext xmlns:c16="http://schemas.microsoft.com/office/drawing/2014/chart" uri="{C3380CC4-5D6E-409C-BE32-E72D297353CC}">
              <c16:uniqueId val="{00000006-C37B-4AD9-B57E-E93F72CF245D}"/>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18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E02E6D-DFC6-427B-BB64-F6070A8EDF40}" type="doc">
      <dgm:prSet loTypeId="urn:microsoft.com/office/officeart/2016/7/layout/HexagonTimeline" loCatId="process" qsTypeId="urn:microsoft.com/office/officeart/2005/8/quickstyle/simple2" qsCatId="simple" csTypeId="urn:microsoft.com/office/officeart/2005/8/colors/colorful4" csCatId="colorful" phldr="1"/>
      <dgm:spPr/>
      <dgm:t>
        <a:bodyPr/>
        <a:lstStyle/>
        <a:p>
          <a:endParaRPr lang="en-US"/>
        </a:p>
      </dgm:t>
    </dgm:pt>
    <dgm:pt modelId="{0466DED4-75ED-4C6A-8388-A19C3BF68251}">
      <dgm:prSet custT="1"/>
      <dgm:spPr/>
      <dgm:t>
        <a:bodyPr/>
        <a:lstStyle/>
        <a:p>
          <a:r>
            <a:rPr lang="en-US" sz="2000" dirty="0"/>
            <a:t>Rotating Poson Lantern- 10</a:t>
          </a:r>
          <a:r>
            <a:rPr lang="en-US" sz="2000" baseline="30000" dirty="0"/>
            <a:t>th</a:t>
          </a:r>
          <a:r>
            <a:rPr lang="en-US" sz="2000" dirty="0"/>
            <a:t> June 2025</a:t>
          </a:r>
        </a:p>
      </dgm:t>
    </dgm:pt>
    <dgm:pt modelId="{84DE712F-0A11-434C-8212-92B11475EEA0}" type="parTrans" cxnId="{B03C5104-827B-4E0A-9C1C-F07F25F6509D}">
      <dgm:prSet/>
      <dgm:spPr/>
      <dgm:t>
        <a:bodyPr/>
        <a:lstStyle/>
        <a:p>
          <a:endParaRPr lang="en-US" sz="3200"/>
        </a:p>
      </dgm:t>
    </dgm:pt>
    <dgm:pt modelId="{CCCBDC73-C960-4092-9FCD-174E4F6D92CC}" type="sibTrans" cxnId="{B03C5104-827B-4E0A-9C1C-F07F25F6509D}">
      <dgm:prSet/>
      <dgm:spPr/>
      <dgm:t>
        <a:bodyPr/>
        <a:lstStyle/>
        <a:p>
          <a:endParaRPr lang="en-US" sz="3200"/>
        </a:p>
      </dgm:t>
    </dgm:pt>
    <dgm:pt modelId="{BFDAF1B7-6136-40E6-9099-F5738BA8EB98}">
      <dgm:prSet custT="1"/>
      <dgm:spPr/>
      <dgm:t>
        <a:bodyPr/>
        <a:lstStyle/>
        <a:p>
          <a:endParaRPr lang="en-US" sz="2000" dirty="0"/>
        </a:p>
      </dgm:t>
    </dgm:pt>
    <dgm:pt modelId="{93F80466-78EC-4881-821B-EC7B838BC9EC}" type="parTrans" cxnId="{E78C038F-D107-4828-BF53-C4D676EC7C6D}">
      <dgm:prSet/>
      <dgm:spPr/>
      <dgm:t>
        <a:bodyPr/>
        <a:lstStyle/>
        <a:p>
          <a:endParaRPr lang="en-US" sz="3200"/>
        </a:p>
      </dgm:t>
    </dgm:pt>
    <dgm:pt modelId="{0FBFF07B-61B6-4378-890D-956CE0A39E56}" type="sibTrans" cxnId="{E78C038F-D107-4828-BF53-C4D676EC7C6D}">
      <dgm:prSet/>
      <dgm:spPr/>
      <dgm:t>
        <a:bodyPr/>
        <a:lstStyle/>
        <a:p>
          <a:endParaRPr lang="en-US" sz="3200"/>
        </a:p>
      </dgm:t>
    </dgm:pt>
    <dgm:pt modelId="{D4740FFA-520B-40E8-B6AB-FE1ABC8981F1}">
      <dgm:prSet custT="1"/>
      <dgm:spPr/>
      <dgm:t>
        <a:bodyPr/>
        <a:lstStyle/>
        <a:p>
          <a:r>
            <a:rPr lang="en-US" sz="2000" dirty="0"/>
            <a:t>SAB Poson Dansela-12</a:t>
          </a:r>
          <a:r>
            <a:rPr lang="en-US" sz="2000" baseline="30000" dirty="0"/>
            <a:t>th </a:t>
          </a:r>
          <a:r>
            <a:rPr lang="en-US" sz="2000" dirty="0"/>
            <a:t> June 2025</a:t>
          </a:r>
        </a:p>
      </dgm:t>
    </dgm:pt>
    <dgm:pt modelId="{5155A3EF-233A-4124-9EA6-068A6F91419B}" type="parTrans" cxnId="{D6E3B397-86AE-4BAC-ABBA-2797F40EE48F}">
      <dgm:prSet/>
      <dgm:spPr/>
      <dgm:t>
        <a:bodyPr/>
        <a:lstStyle/>
        <a:p>
          <a:endParaRPr lang="en-US" sz="3200"/>
        </a:p>
      </dgm:t>
    </dgm:pt>
    <dgm:pt modelId="{9D9DDCA9-F84B-4837-817C-4EE6F1869770}" type="sibTrans" cxnId="{D6E3B397-86AE-4BAC-ABBA-2797F40EE48F}">
      <dgm:prSet/>
      <dgm:spPr/>
      <dgm:t>
        <a:bodyPr/>
        <a:lstStyle/>
        <a:p>
          <a:endParaRPr lang="en-US" sz="3200"/>
        </a:p>
      </dgm:t>
    </dgm:pt>
    <dgm:pt modelId="{E87BE4E9-96E7-4710-A968-B843DD59C8AC}">
      <dgm:prSet custT="1"/>
      <dgm:spPr/>
      <dgm:t>
        <a:bodyPr/>
        <a:lstStyle/>
        <a:p>
          <a:endParaRPr lang="en-US" sz="2000" dirty="0"/>
        </a:p>
      </dgm:t>
    </dgm:pt>
    <dgm:pt modelId="{6768AEB5-4041-46E3-853F-B72748F2CF71}" type="parTrans" cxnId="{76BC0FD7-B991-4AA0-A383-7A65929B7A97}">
      <dgm:prSet/>
      <dgm:spPr/>
      <dgm:t>
        <a:bodyPr/>
        <a:lstStyle/>
        <a:p>
          <a:endParaRPr lang="en-US" sz="3200"/>
        </a:p>
      </dgm:t>
    </dgm:pt>
    <dgm:pt modelId="{F97D4E83-1020-41D5-95FB-04E02E61364B}" type="sibTrans" cxnId="{76BC0FD7-B991-4AA0-A383-7A65929B7A97}">
      <dgm:prSet/>
      <dgm:spPr/>
      <dgm:t>
        <a:bodyPr/>
        <a:lstStyle/>
        <a:p>
          <a:endParaRPr lang="en-US" sz="3200"/>
        </a:p>
      </dgm:t>
    </dgm:pt>
    <dgm:pt modelId="{F40E63E2-06EE-467E-AA7E-2E2D1AE5DE37}">
      <dgm:prSet custT="1"/>
      <dgm:spPr/>
      <dgm:t>
        <a:bodyPr/>
        <a:lstStyle/>
        <a:p>
          <a:r>
            <a:rPr lang="en-US" sz="2000" dirty="0"/>
            <a:t>27th  July 2025</a:t>
          </a:r>
        </a:p>
      </dgm:t>
    </dgm:pt>
    <dgm:pt modelId="{73678DFD-C774-40B2-8831-C28F3A4E65E6}" type="parTrans" cxnId="{17DC1BB7-C2D7-4D53-9D9C-EB3BBAADCC3F}">
      <dgm:prSet/>
      <dgm:spPr/>
      <dgm:t>
        <a:bodyPr/>
        <a:lstStyle/>
        <a:p>
          <a:endParaRPr lang="en-US" sz="3200"/>
        </a:p>
      </dgm:t>
    </dgm:pt>
    <dgm:pt modelId="{FB67E6B1-A3BE-4939-B962-714EDCBE5B5A}" type="sibTrans" cxnId="{17DC1BB7-C2D7-4D53-9D9C-EB3BBAADCC3F}">
      <dgm:prSet/>
      <dgm:spPr/>
      <dgm:t>
        <a:bodyPr/>
        <a:lstStyle/>
        <a:p>
          <a:endParaRPr lang="en-US" sz="3200"/>
        </a:p>
      </dgm:t>
    </dgm:pt>
    <dgm:pt modelId="{4A4BD0CF-9913-4D11-BAAD-296C966F3A48}">
      <dgm:prSet custT="1"/>
      <dgm:spPr/>
      <dgm:t>
        <a:bodyPr/>
        <a:lstStyle/>
        <a:p>
          <a:r>
            <a:rPr lang="en-US" sz="2000" dirty="0"/>
            <a:t>SAB </a:t>
          </a:r>
          <a:r>
            <a:rPr lang="en-US" sz="2000"/>
            <a:t>Cricket Fiesta </a:t>
          </a:r>
          <a:r>
            <a:rPr lang="en-US" sz="2000" dirty="0"/>
            <a:t>2025</a:t>
          </a:r>
        </a:p>
      </dgm:t>
    </dgm:pt>
    <dgm:pt modelId="{9D2B1F2B-0194-423F-9B8D-0CCCA1E75E6B}" type="parTrans" cxnId="{629BA462-E4A9-46B1-8C53-63AFD4F16138}">
      <dgm:prSet/>
      <dgm:spPr/>
      <dgm:t>
        <a:bodyPr/>
        <a:lstStyle/>
        <a:p>
          <a:endParaRPr lang="en-US" sz="3200"/>
        </a:p>
      </dgm:t>
    </dgm:pt>
    <dgm:pt modelId="{B148CB27-423F-4BB5-8E84-C9681A6CB8A5}" type="sibTrans" cxnId="{629BA462-E4A9-46B1-8C53-63AFD4F16138}">
      <dgm:prSet/>
      <dgm:spPr/>
      <dgm:t>
        <a:bodyPr/>
        <a:lstStyle/>
        <a:p>
          <a:endParaRPr lang="en-US" sz="3200"/>
        </a:p>
      </dgm:t>
    </dgm:pt>
    <dgm:pt modelId="{062C49A4-FE19-47BC-82F3-23929D015642}" type="pres">
      <dgm:prSet presAssocID="{A8E02E6D-DFC6-427B-BB64-F6070A8EDF40}" presName="Name0" presStyleCnt="0">
        <dgm:presLayoutVars>
          <dgm:chMax/>
          <dgm:chPref/>
          <dgm:animLvl val="lvl"/>
        </dgm:presLayoutVars>
      </dgm:prSet>
      <dgm:spPr/>
    </dgm:pt>
    <dgm:pt modelId="{33AECD95-5D91-4974-99CC-CF8C7C832A25}" type="pres">
      <dgm:prSet presAssocID="{0466DED4-75ED-4C6A-8388-A19C3BF68251}" presName="composite" presStyleCnt="0"/>
      <dgm:spPr/>
    </dgm:pt>
    <dgm:pt modelId="{A6A32227-F0F9-4D2B-A10F-C00653CFA413}" type="pres">
      <dgm:prSet presAssocID="{0466DED4-75ED-4C6A-8388-A19C3BF68251}" presName="Parent1" presStyleLbl="alignNode1" presStyleIdx="0" presStyleCnt="3" custScaleY="138602" custLinFactNeighborX="-2185" custLinFactNeighborY="17655">
        <dgm:presLayoutVars>
          <dgm:chMax val="1"/>
          <dgm:chPref val="1"/>
          <dgm:bulletEnabled val="1"/>
        </dgm:presLayoutVars>
      </dgm:prSet>
      <dgm:spPr/>
    </dgm:pt>
    <dgm:pt modelId="{9F605230-E243-4187-A729-69F4085ED739}" type="pres">
      <dgm:prSet presAssocID="{0466DED4-75ED-4C6A-8388-A19C3BF68251}" presName="Childtext1" presStyleLbl="revTx" presStyleIdx="0" presStyleCnt="3">
        <dgm:presLayoutVars>
          <dgm:chMax val="0"/>
          <dgm:chPref val="0"/>
          <dgm:bulletEnabled/>
        </dgm:presLayoutVars>
      </dgm:prSet>
      <dgm:spPr/>
    </dgm:pt>
    <dgm:pt modelId="{43BCA017-228F-40CF-A99E-1432A4F9DC32}" type="pres">
      <dgm:prSet presAssocID="{0466DED4-75ED-4C6A-8388-A19C3BF68251}" presName="ConnectLine" presStyleLbl="sibTrans1D1" presStyleIdx="0" presStyleCnt="3"/>
      <dgm:spPr>
        <a:noFill/>
        <a:ln w="12700" cap="flat" cmpd="sng" algn="ctr">
          <a:solidFill>
            <a:schemeClr val="accent4">
              <a:hueOff val="0"/>
              <a:satOff val="0"/>
              <a:lumOff val="0"/>
              <a:alphaOff val="0"/>
            </a:schemeClr>
          </a:solidFill>
          <a:prstDash val="dash"/>
          <a:miter lim="800000"/>
        </a:ln>
        <a:effectLst/>
      </dgm:spPr>
    </dgm:pt>
    <dgm:pt modelId="{A3A343CB-B977-4C69-BBC9-551E381BDEF4}" type="pres">
      <dgm:prSet presAssocID="{0466DED4-75ED-4C6A-8388-A19C3BF68251}" presName="ConnectLineEnd" presStyleLbl="node1" presStyleIdx="0" presStyleCnt="3"/>
      <dgm:spPr/>
    </dgm:pt>
    <dgm:pt modelId="{B9A239A4-59F0-42C7-A0F2-819419892543}" type="pres">
      <dgm:prSet presAssocID="{0466DED4-75ED-4C6A-8388-A19C3BF68251}" presName="EmptyPane" presStyleCnt="0"/>
      <dgm:spPr/>
    </dgm:pt>
    <dgm:pt modelId="{64CD4584-FF52-42F6-AE29-1EAF17C36690}" type="pres">
      <dgm:prSet presAssocID="{CCCBDC73-C960-4092-9FCD-174E4F6D92CC}" presName="spaceBetweenRectangles" presStyleLbl="fgAcc1" presStyleIdx="0" presStyleCnt="2"/>
      <dgm:spPr/>
    </dgm:pt>
    <dgm:pt modelId="{A873D358-5CA2-484C-9852-2F634FD22964}" type="pres">
      <dgm:prSet presAssocID="{D4740FFA-520B-40E8-B6AB-FE1ABC8981F1}" presName="composite" presStyleCnt="0"/>
      <dgm:spPr/>
    </dgm:pt>
    <dgm:pt modelId="{01CDA4AA-3539-4F9A-8BEE-7614B5636551}" type="pres">
      <dgm:prSet presAssocID="{D4740FFA-520B-40E8-B6AB-FE1ABC8981F1}" presName="Parent1" presStyleLbl="alignNode1" presStyleIdx="1" presStyleCnt="3" custScaleY="132424">
        <dgm:presLayoutVars>
          <dgm:chMax val="1"/>
          <dgm:chPref val="1"/>
          <dgm:bulletEnabled val="1"/>
        </dgm:presLayoutVars>
      </dgm:prSet>
      <dgm:spPr/>
    </dgm:pt>
    <dgm:pt modelId="{26004CC6-4CC4-4753-A315-E746B2849EE6}" type="pres">
      <dgm:prSet presAssocID="{D4740FFA-520B-40E8-B6AB-FE1ABC8981F1}" presName="Childtext1" presStyleLbl="revTx" presStyleIdx="1" presStyleCnt="3">
        <dgm:presLayoutVars>
          <dgm:chMax val="0"/>
          <dgm:chPref val="0"/>
          <dgm:bulletEnabled/>
        </dgm:presLayoutVars>
      </dgm:prSet>
      <dgm:spPr/>
    </dgm:pt>
    <dgm:pt modelId="{CFC7D86D-9F52-42A7-99BD-B3B2AFE39F01}" type="pres">
      <dgm:prSet presAssocID="{D4740FFA-520B-40E8-B6AB-FE1ABC8981F1}" presName="ConnectLine" presStyleLbl="sibTrans1D1" presStyleIdx="1" presStyleCnt="3"/>
      <dgm:spPr>
        <a:noFill/>
        <a:ln w="12700" cap="flat" cmpd="sng" algn="ctr">
          <a:solidFill>
            <a:schemeClr val="accent4">
              <a:hueOff val="3266964"/>
              <a:satOff val="-13592"/>
              <a:lumOff val="3203"/>
              <a:alphaOff val="0"/>
            </a:schemeClr>
          </a:solidFill>
          <a:prstDash val="dash"/>
          <a:miter lim="800000"/>
        </a:ln>
        <a:effectLst/>
      </dgm:spPr>
    </dgm:pt>
    <dgm:pt modelId="{2AF15451-B3A5-4247-A3D2-D92CDA81DDE9}" type="pres">
      <dgm:prSet presAssocID="{D4740FFA-520B-40E8-B6AB-FE1ABC8981F1}" presName="ConnectLineEnd" presStyleLbl="node1" presStyleIdx="1" presStyleCnt="3"/>
      <dgm:spPr/>
    </dgm:pt>
    <dgm:pt modelId="{786284AE-E471-483D-BD53-558BF7DE8734}" type="pres">
      <dgm:prSet presAssocID="{D4740FFA-520B-40E8-B6AB-FE1ABC8981F1}" presName="EmptyPane" presStyleCnt="0"/>
      <dgm:spPr/>
    </dgm:pt>
    <dgm:pt modelId="{A62A783C-75A0-4EB5-8EF0-485F4399DDA9}" type="pres">
      <dgm:prSet presAssocID="{9D9DDCA9-F84B-4837-817C-4EE6F1869770}" presName="spaceBetweenRectangles" presStyleLbl="fgAcc1" presStyleIdx="1" presStyleCnt="2"/>
      <dgm:spPr/>
    </dgm:pt>
    <dgm:pt modelId="{684A9C05-4910-4ABE-B6C3-A91322311C6D}" type="pres">
      <dgm:prSet presAssocID="{F40E63E2-06EE-467E-AA7E-2E2D1AE5DE37}" presName="composite" presStyleCnt="0"/>
      <dgm:spPr/>
    </dgm:pt>
    <dgm:pt modelId="{F6AE0AB9-37EE-4BE5-B2D0-744CE6798B87}" type="pres">
      <dgm:prSet presAssocID="{F40E63E2-06EE-467E-AA7E-2E2D1AE5DE37}" presName="Parent1" presStyleLbl="alignNode1" presStyleIdx="2" presStyleCnt="3" custScaleY="97380" custLinFactNeighborX="-1311" custLinFactNeighborY="7062">
        <dgm:presLayoutVars>
          <dgm:chMax val="1"/>
          <dgm:chPref val="1"/>
          <dgm:bulletEnabled val="1"/>
        </dgm:presLayoutVars>
      </dgm:prSet>
      <dgm:spPr/>
    </dgm:pt>
    <dgm:pt modelId="{0E3BD165-242B-4F30-9830-9DE502CCC726}" type="pres">
      <dgm:prSet presAssocID="{F40E63E2-06EE-467E-AA7E-2E2D1AE5DE37}" presName="Childtext1" presStyleLbl="revTx" presStyleIdx="2" presStyleCnt="3">
        <dgm:presLayoutVars>
          <dgm:chMax val="0"/>
          <dgm:chPref val="0"/>
          <dgm:bulletEnabled/>
        </dgm:presLayoutVars>
      </dgm:prSet>
      <dgm:spPr/>
    </dgm:pt>
    <dgm:pt modelId="{AFD946F1-2BB2-4411-A444-509F3BE471CF}" type="pres">
      <dgm:prSet presAssocID="{F40E63E2-06EE-467E-AA7E-2E2D1AE5DE37}" presName="ConnectLine" presStyleLbl="sibTrans1D1" presStyleIdx="2" presStyleCnt="3"/>
      <dgm:spPr>
        <a:noFill/>
        <a:ln w="12700" cap="flat" cmpd="sng" algn="ctr">
          <a:solidFill>
            <a:schemeClr val="accent4">
              <a:hueOff val="9800891"/>
              <a:satOff val="-40777"/>
              <a:lumOff val="9608"/>
              <a:alphaOff val="0"/>
            </a:schemeClr>
          </a:solidFill>
          <a:prstDash val="dash"/>
          <a:miter lim="800000"/>
        </a:ln>
        <a:effectLst/>
      </dgm:spPr>
    </dgm:pt>
    <dgm:pt modelId="{791E3511-FD7E-4784-9A2B-64FCAFC01BFC}" type="pres">
      <dgm:prSet presAssocID="{F40E63E2-06EE-467E-AA7E-2E2D1AE5DE37}" presName="ConnectLineEnd" presStyleLbl="node1" presStyleIdx="2" presStyleCnt="3"/>
      <dgm:spPr/>
    </dgm:pt>
    <dgm:pt modelId="{8D5A0BF7-30EC-4864-858B-2E704EC2F881}" type="pres">
      <dgm:prSet presAssocID="{F40E63E2-06EE-467E-AA7E-2E2D1AE5DE37}" presName="EmptyPane" presStyleCnt="0"/>
      <dgm:spPr/>
    </dgm:pt>
  </dgm:ptLst>
  <dgm:cxnLst>
    <dgm:cxn modelId="{B03C5104-827B-4E0A-9C1C-F07F25F6509D}" srcId="{A8E02E6D-DFC6-427B-BB64-F6070A8EDF40}" destId="{0466DED4-75ED-4C6A-8388-A19C3BF68251}" srcOrd="0" destOrd="0" parTransId="{84DE712F-0A11-434C-8212-92B11475EEA0}" sibTransId="{CCCBDC73-C960-4092-9FCD-174E4F6D92CC}"/>
    <dgm:cxn modelId="{9562AC22-ECD3-4AC7-8C5F-3B87F0733A02}" type="presOf" srcId="{4A4BD0CF-9913-4D11-BAAD-296C966F3A48}" destId="{0E3BD165-242B-4F30-9830-9DE502CCC726}" srcOrd="0" destOrd="0" presId="urn:microsoft.com/office/officeart/2016/7/layout/HexagonTimeline"/>
    <dgm:cxn modelId="{AC2B2A2C-81A7-4A46-83A5-8A270170F851}" type="presOf" srcId="{E87BE4E9-96E7-4710-A968-B843DD59C8AC}" destId="{26004CC6-4CC4-4753-A315-E746B2849EE6}" srcOrd="0" destOrd="0" presId="urn:microsoft.com/office/officeart/2016/7/layout/HexagonTimeline"/>
    <dgm:cxn modelId="{49D1EF35-E03A-494B-8494-9E1ACAD7C3AD}" type="presOf" srcId="{BFDAF1B7-6136-40E6-9099-F5738BA8EB98}" destId="{9F605230-E243-4187-A729-69F4085ED739}" srcOrd="0" destOrd="0" presId="urn:microsoft.com/office/officeart/2016/7/layout/HexagonTimeline"/>
    <dgm:cxn modelId="{629BA462-E4A9-46B1-8C53-63AFD4F16138}" srcId="{F40E63E2-06EE-467E-AA7E-2E2D1AE5DE37}" destId="{4A4BD0CF-9913-4D11-BAAD-296C966F3A48}" srcOrd="0" destOrd="0" parTransId="{9D2B1F2B-0194-423F-9B8D-0CCCA1E75E6B}" sibTransId="{B148CB27-423F-4BB5-8E84-C9681A6CB8A5}"/>
    <dgm:cxn modelId="{6E3A6E67-05C6-4FA0-B718-9BA02E1BAD1E}" type="presOf" srcId="{A8E02E6D-DFC6-427B-BB64-F6070A8EDF40}" destId="{062C49A4-FE19-47BC-82F3-23929D015642}" srcOrd="0" destOrd="0" presId="urn:microsoft.com/office/officeart/2016/7/layout/HexagonTimeline"/>
    <dgm:cxn modelId="{54C85489-BCB5-4521-8947-9CC85D03A132}" type="presOf" srcId="{D4740FFA-520B-40E8-B6AB-FE1ABC8981F1}" destId="{01CDA4AA-3539-4F9A-8BEE-7614B5636551}" srcOrd="0" destOrd="0" presId="urn:microsoft.com/office/officeart/2016/7/layout/HexagonTimeline"/>
    <dgm:cxn modelId="{E78C038F-D107-4828-BF53-C4D676EC7C6D}" srcId="{0466DED4-75ED-4C6A-8388-A19C3BF68251}" destId="{BFDAF1B7-6136-40E6-9099-F5738BA8EB98}" srcOrd="0" destOrd="0" parTransId="{93F80466-78EC-4881-821B-EC7B838BC9EC}" sibTransId="{0FBFF07B-61B6-4378-890D-956CE0A39E56}"/>
    <dgm:cxn modelId="{D6E3B397-86AE-4BAC-ABBA-2797F40EE48F}" srcId="{A8E02E6D-DFC6-427B-BB64-F6070A8EDF40}" destId="{D4740FFA-520B-40E8-B6AB-FE1ABC8981F1}" srcOrd="1" destOrd="0" parTransId="{5155A3EF-233A-4124-9EA6-068A6F91419B}" sibTransId="{9D9DDCA9-F84B-4837-817C-4EE6F1869770}"/>
    <dgm:cxn modelId="{EEE888B3-50D8-45FF-B15B-6F9FAF9E2C3A}" type="presOf" srcId="{0466DED4-75ED-4C6A-8388-A19C3BF68251}" destId="{A6A32227-F0F9-4D2B-A10F-C00653CFA413}" srcOrd="0" destOrd="0" presId="urn:microsoft.com/office/officeart/2016/7/layout/HexagonTimeline"/>
    <dgm:cxn modelId="{17DC1BB7-C2D7-4D53-9D9C-EB3BBAADCC3F}" srcId="{A8E02E6D-DFC6-427B-BB64-F6070A8EDF40}" destId="{F40E63E2-06EE-467E-AA7E-2E2D1AE5DE37}" srcOrd="2" destOrd="0" parTransId="{73678DFD-C774-40B2-8831-C28F3A4E65E6}" sibTransId="{FB67E6B1-A3BE-4939-B962-714EDCBE5B5A}"/>
    <dgm:cxn modelId="{B65752C8-FF7B-4B4B-8A43-3F217DB29A6A}" type="presOf" srcId="{F40E63E2-06EE-467E-AA7E-2E2D1AE5DE37}" destId="{F6AE0AB9-37EE-4BE5-B2D0-744CE6798B87}" srcOrd="0" destOrd="0" presId="urn:microsoft.com/office/officeart/2016/7/layout/HexagonTimeline"/>
    <dgm:cxn modelId="{76BC0FD7-B991-4AA0-A383-7A65929B7A97}" srcId="{D4740FFA-520B-40E8-B6AB-FE1ABC8981F1}" destId="{E87BE4E9-96E7-4710-A968-B843DD59C8AC}" srcOrd="0" destOrd="0" parTransId="{6768AEB5-4041-46E3-853F-B72748F2CF71}" sibTransId="{F97D4E83-1020-41D5-95FB-04E02E61364B}"/>
    <dgm:cxn modelId="{DED5C90B-BEF0-4B5B-8A4E-4E56FE5EB022}" type="presParOf" srcId="{062C49A4-FE19-47BC-82F3-23929D015642}" destId="{33AECD95-5D91-4974-99CC-CF8C7C832A25}" srcOrd="0" destOrd="0" presId="urn:microsoft.com/office/officeart/2016/7/layout/HexagonTimeline"/>
    <dgm:cxn modelId="{D61276C4-045C-4016-9679-A60E590204CB}" type="presParOf" srcId="{33AECD95-5D91-4974-99CC-CF8C7C832A25}" destId="{A6A32227-F0F9-4D2B-A10F-C00653CFA413}" srcOrd="0" destOrd="0" presId="urn:microsoft.com/office/officeart/2016/7/layout/HexagonTimeline"/>
    <dgm:cxn modelId="{DC036B86-C235-404D-B709-A588B3B1FFB6}" type="presParOf" srcId="{33AECD95-5D91-4974-99CC-CF8C7C832A25}" destId="{9F605230-E243-4187-A729-69F4085ED739}" srcOrd="1" destOrd="0" presId="urn:microsoft.com/office/officeart/2016/7/layout/HexagonTimeline"/>
    <dgm:cxn modelId="{53319024-E22C-4714-A4CA-4053232756D6}" type="presParOf" srcId="{33AECD95-5D91-4974-99CC-CF8C7C832A25}" destId="{43BCA017-228F-40CF-A99E-1432A4F9DC32}" srcOrd="2" destOrd="0" presId="urn:microsoft.com/office/officeart/2016/7/layout/HexagonTimeline"/>
    <dgm:cxn modelId="{FBB14D6A-8FB6-4E37-82B5-3F10C0145F9E}" type="presParOf" srcId="{33AECD95-5D91-4974-99CC-CF8C7C832A25}" destId="{A3A343CB-B977-4C69-BBC9-551E381BDEF4}" srcOrd="3" destOrd="0" presId="urn:microsoft.com/office/officeart/2016/7/layout/HexagonTimeline"/>
    <dgm:cxn modelId="{449000CB-8058-4761-A6ED-14AD47A26DAA}" type="presParOf" srcId="{33AECD95-5D91-4974-99CC-CF8C7C832A25}" destId="{B9A239A4-59F0-42C7-A0F2-819419892543}" srcOrd="4" destOrd="0" presId="urn:microsoft.com/office/officeart/2016/7/layout/HexagonTimeline"/>
    <dgm:cxn modelId="{C1650C6C-2502-4A4A-96AD-773DB343A011}" type="presParOf" srcId="{062C49A4-FE19-47BC-82F3-23929D015642}" destId="{64CD4584-FF52-42F6-AE29-1EAF17C36690}" srcOrd="1" destOrd="0" presId="urn:microsoft.com/office/officeart/2016/7/layout/HexagonTimeline"/>
    <dgm:cxn modelId="{409BCD46-4267-455F-96DA-15D6B2D613EE}" type="presParOf" srcId="{062C49A4-FE19-47BC-82F3-23929D015642}" destId="{A873D358-5CA2-484C-9852-2F634FD22964}" srcOrd="2" destOrd="0" presId="urn:microsoft.com/office/officeart/2016/7/layout/HexagonTimeline"/>
    <dgm:cxn modelId="{54A74E1D-6307-46BF-9837-7F8D334ED9A8}" type="presParOf" srcId="{A873D358-5CA2-484C-9852-2F634FD22964}" destId="{01CDA4AA-3539-4F9A-8BEE-7614B5636551}" srcOrd="0" destOrd="0" presId="urn:microsoft.com/office/officeart/2016/7/layout/HexagonTimeline"/>
    <dgm:cxn modelId="{DF6C8AE0-6AEF-4F33-A0F7-220DECCC3E2C}" type="presParOf" srcId="{A873D358-5CA2-484C-9852-2F634FD22964}" destId="{26004CC6-4CC4-4753-A315-E746B2849EE6}" srcOrd="1" destOrd="0" presId="urn:microsoft.com/office/officeart/2016/7/layout/HexagonTimeline"/>
    <dgm:cxn modelId="{18297812-9C8F-435B-9CC9-DDB34EF08D39}" type="presParOf" srcId="{A873D358-5CA2-484C-9852-2F634FD22964}" destId="{CFC7D86D-9F52-42A7-99BD-B3B2AFE39F01}" srcOrd="2" destOrd="0" presId="urn:microsoft.com/office/officeart/2016/7/layout/HexagonTimeline"/>
    <dgm:cxn modelId="{B357E77A-8861-4546-A588-6E926249E239}" type="presParOf" srcId="{A873D358-5CA2-484C-9852-2F634FD22964}" destId="{2AF15451-B3A5-4247-A3D2-D92CDA81DDE9}" srcOrd="3" destOrd="0" presId="urn:microsoft.com/office/officeart/2016/7/layout/HexagonTimeline"/>
    <dgm:cxn modelId="{BAE92261-7FB2-409F-AA4A-CDB95151F798}" type="presParOf" srcId="{A873D358-5CA2-484C-9852-2F634FD22964}" destId="{786284AE-E471-483D-BD53-558BF7DE8734}" srcOrd="4" destOrd="0" presId="urn:microsoft.com/office/officeart/2016/7/layout/HexagonTimeline"/>
    <dgm:cxn modelId="{A50DDECD-49C3-4B33-93F7-E66C344DD31B}" type="presParOf" srcId="{062C49A4-FE19-47BC-82F3-23929D015642}" destId="{A62A783C-75A0-4EB5-8EF0-485F4399DDA9}" srcOrd="3" destOrd="0" presId="urn:microsoft.com/office/officeart/2016/7/layout/HexagonTimeline"/>
    <dgm:cxn modelId="{A3208555-3CC3-4AAD-92E2-486B1BCBC791}" type="presParOf" srcId="{062C49A4-FE19-47BC-82F3-23929D015642}" destId="{684A9C05-4910-4ABE-B6C3-A91322311C6D}" srcOrd="4" destOrd="0" presId="urn:microsoft.com/office/officeart/2016/7/layout/HexagonTimeline"/>
    <dgm:cxn modelId="{4441F931-3004-4D85-A110-4EEF60604796}" type="presParOf" srcId="{684A9C05-4910-4ABE-B6C3-A91322311C6D}" destId="{F6AE0AB9-37EE-4BE5-B2D0-744CE6798B87}" srcOrd="0" destOrd="0" presId="urn:microsoft.com/office/officeart/2016/7/layout/HexagonTimeline"/>
    <dgm:cxn modelId="{CCBA6548-594D-452E-ACF1-4DBB5ABB1C79}" type="presParOf" srcId="{684A9C05-4910-4ABE-B6C3-A91322311C6D}" destId="{0E3BD165-242B-4F30-9830-9DE502CCC726}" srcOrd="1" destOrd="0" presId="urn:microsoft.com/office/officeart/2016/7/layout/HexagonTimeline"/>
    <dgm:cxn modelId="{ED1C44B5-E1A6-4F82-87F8-5D692184294B}" type="presParOf" srcId="{684A9C05-4910-4ABE-B6C3-A91322311C6D}" destId="{AFD946F1-2BB2-4411-A444-509F3BE471CF}" srcOrd="2" destOrd="0" presId="urn:microsoft.com/office/officeart/2016/7/layout/HexagonTimeline"/>
    <dgm:cxn modelId="{57FE0813-9040-4716-89B2-ADE798BA7A23}" type="presParOf" srcId="{684A9C05-4910-4ABE-B6C3-A91322311C6D}" destId="{791E3511-FD7E-4784-9A2B-64FCAFC01BFC}" srcOrd="3" destOrd="0" presId="urn:microsoft.com/office/officeart/2016/7/layout/HexagonTimeline"/>
    <dgm:cxn modelId="{E1114E1B-575C-4881-AF8D-B182596860C0}" type="presParOf" srcId="{684A9C05-4910-4ABE-B6C3-A91322311C6D}" destId="{8D5A0BF7-30EC-4864-858B-2E704EC2F881}" srcOrd="4" destOrd="0" presId="urn:microsoft.com/office/officeart/2016/7/layout/Hexagon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A32227-F0F9-4D2B-A10F-C00653CFA413}">
      <dsp:nvSpPr>
        <dsp:cNvPr id="0" name=""/>
        <dsp:cNvSpPr/>
      </dsp:nvSpPr>
      <dsp:spPr>
        <a:xfrm>
          <a:off x="440293" y="2473883"/>
          <a:ext cx="2521279" cy="964867"/>
        </a:xfrm>
        <a:prstGeom prst="homePlate">
          <a:avLst>
            <a:gd name="adj" fmla="val 40000"/>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889000">
            <a:lnSpc>
              <a:spcPct val="90000"/>
            </a:lnSpc>
            <a:spcBef>
              <a:spcPct val="0"/>
            </a:spcBef>
            <a:spcAft>
              <a:spcPct val="35000"/>
            </a:spcAft>
            <a:buNone/>
          </a:pPr>
          <a:r>
            <a:rPr lang="en-US" sz="2000" kern="1200" dirty="0"/>
            <a:t>Rotating Poson Lantern- 10</a:t>
          </a:r>
          <a:r>
            <a:rPr lang="en-US" sz="2000" kern="1200" baseline="30000" dirty="0"/>
            <a:t>th</a:t>
          </a:r>
          <a:r>
            <a:rPr lang="en-US" sz="2000" kern="1200" dirty="0"/>
            <a:t> June 2025</a:t>
          </a:r>
        </a:p>
      </dsp:txBody>
      <dsp:txXfrm>
        <a:off x="440293" y="2473883"/>
        <a:ext cx="2328306" cy="964867"/>
      </dsp:txXfrm>
    </dsp:sp>
    <dsp:sp modelId="{9F605230-E243-4187-A729-69F4085ED739}">
      <dsp:nvSpPr>
        <dsp:cNvPr id="0" name=""/>
        <dsp:cNvSpPr/>
      </dsp:nvSpPr>
      <dsp:spPr>
        <a:xfrm>
          <a:off x="-49955" y="-302577"/>
          <a:ext cx="3501776" cy="25729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0" rIns="0" bIns="177800" numCol="1" spcCol="1270" anchor="b" anchorCtr="1">
          <a:noAutofit/>
        </a:bodyPr>
        <a:lstStyle/>
        <a:p>
          <a:pPr marL="0" lvl="0" indent="0" algn="ctr" defTabSz="889000">
            <a:lnSpc>
              <a:spcPct val="90000"/>
            </a:lnSpc>
            <a:spcBef>
              <a:spcPct val="0"/>
            </a:spcBef>
            <a:spcAft>
              <a:spcPct val="35000"/>
            </a:spcAft>
            <a:buNone/>
          </a:pPr>
          <a:endParaRPr lang="en-US" sz="2000" kern="1200" dirty="0"/>
        </a:p>
      </dsp:txBody>
      <dsp:txXfrm>
        <a:off x="-49955" y="-302577"/>
        <a:ext cx="3501776" cy="2572980"/>
      </dsp:txXfrm>
    </dsp:sp>
    <dsp:sp modelId="{64CD4584-FF52-42F6-AE29-1EAF17C36690}">
      <dsp:nvSpPr>
        <dsp:cNvPr id="0" name=""/>
        <dsp:cNvSpPr/>
      </dsp:nvSpPr>
      <dsp:spPr>
        <a:xfrm rot="2346">
          <a:off x="2961572" y="2956670"/>
          <a:ext cx="1035587" cy="0"/>
        </a:xfrm>
        <a:custGeom>
          <a:avLst/>
          <a:gdLst/>
          <a:ahLst/>
          <a:cxnLst/>
          <a:rect l="0" t="0" r="0" b="0"/>
          <a:pathLst>
            <a:path>
              <a:moveTo>
                <a:pt x="0" y="0"/>
              </a:moveTo>
              <a:lnTo>
                <a:pt x="1035587" y="0"/>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3BCA017-228F-40CF-A99E-1432A4F9DC32}">
      <dsp:nvSpPr>
        <dsp:cNvPr id="0" name=""/>
        <dsp:cNvSpPr/>
      </dsp:nvSpPr>
      <dsp:spPr>
        <a:xfrm>
          <a:off x="1700933" y="1916158"/>
          <a:ext cx="0" cy="804056"/>
        </a:xfrm>
        <a:prstGeom prst="line">
          <a:avLst/>
        </a:prstGeom>
        <a:noFill/>
        <a:ln w="12700" cap="flat" cmpd="sng" algn="ctr">
          <a:solidFill>
            <a:schemeClr val="accent4">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A3A343CB-B977-4C69-BBC9-551E381BDEF4}">
      <dsp:nvSpPr>
        <dsp:cNvPr id="0" name=""/>
        <dsp:cNvSpPr/>
      </dsp:nvSpPr>
      <dsp:spPr>
        <a:xfrm>
          <a:off x="1642921" y="1889709"/>
          <a:ext cx="116023" cy="160811"/>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01CDA4AA-3539-4F9A-8BEE-7614B5636551}">
      <dsp:nvSpPr>
        <dsp:cNvPr id="0" name=""/>
        <dsp:cNvSpPr/>
      </dsp:nvSpPr>
      <dsp:spPr>
        <a:xfrm>
          <a:off x="3997160" y="2496093"/>
          <a:ext cx="2521279" cy="921859"/>
        </a:xfrm>
        <a:prstGeom prst="hexagon">
          <a:avLst>
            <a:gd name="adj" fmla="val 40000"/>
            <a:gd name="vf" fmla="val 115470"/>
          </a:avLst>
        </a:prstGeom>
        <a:solidFill>
          <a:schemeClr val="accent4">
            <a:hueOff val="4900445"/>
            <a:satOff val="-20388"/>
            <a:lumOff val="4804"/>
            <a:alphaOff val="0"/>
          </a:schemeClr>
        </a:solidFill>
        <a:ln w="12700" cap="flat" cmpd="sng" algn="ctr">
          <a:solidFill>
            <a:schemeClr val="accent4">
              <a:hueOff val="4900445"/>
              <a:satOff val="-20388"/>
              <a:lumOff val="4804"/>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889000">
            <a:lnSpc>
              <a:spcPct val="90000"/>
            </a:lnSpc>
            <a:spcBef>
              <a:spcPct val="0"/>
            </a:spcBef>
            <a:spcAft>
              <a:spcPct val="35000"/>
            </a:spcAft>
            <a:buNone/>
          </a:pPr>
          <a:r>
            <a:rPr lang="en-US" sz="2000" kern="1200" dirty="0"/>
            <a:t>SAB Poson Dansela-12</a:t>
          </a:r>
          <a:r>
            <a:rPr lang="en-US" sz="2000" kern="1200" baseline="30000" dirty="0"/>
            <a:t>th </a:t>
          </a:r>
          <a:r>
            <a:rPr lang="en-US" sz="2000" kern="1200" dirty="0"/>
            <a:t> June 2025</a:t>
          </a:r>
        </a:p>
      </dsp:txBody>
      <dsp:txXfrm>
        <a:off x="4330181" y="2617856"/>
        <a:ext cx="1855237" cy="678333"/>
      </dsp:txXfrm>
    </dsp:sp>
    <dsp:sp modelId="{26004CC6-4CC4-4753-A315-E746B2849EE6}">
      <dsp:nvSpPr>
        <dsp:cNvPr id="0" name=""/>
        <dsp:cNvSpPr/>
      </dsp:nvSpPr>
      <dsp:spPr>
        <a:xfrm>
          <a:off x="3506911" y="3700281"/>
          <a:ext cx="3501776" cy="2458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0" rIns="0" bIns="177800" numCol="1" spcCol="1270" anchor="t" anchorCtr="1">
          <a:noAutofit/>
        </a:bodyPr>
        <a:lstStyle/>
        <a:p>
          <a:pPr marL="0" lvl="0" indent="0" algn="ctr" defTabSz="889000">
            <a:lnSpc>
              <a:spcPct val="90000"/>
            </a:lnSpc>
            <a:spcBef>
              <a:spcPct val="0"/>
            </a:spcBef>
            <a:spcAft>
              <a:spcPct val="35000"/>
            </a:spcAft>
            <a:buNone/>
          </a:pPr>
          <a:endParaRPr lang="en-US" sz="2000" kern="1200" dirty="0"/>
        </a:p>
      </dsp:txBody>
      <dsp:txXfrm>
        <a:off x="3506911" y="3700281"/>
        <a:ext cx="3501776" cy="2458293"/>
      </dsp:txXfrm>
    </dsp:sp>
    <dsp:sp modelId="{A62A783C-75A0-4EB5-8EF0-485F4399DDA9}">
      <dsp:nvSpPr>
        <dsp:cNvPr id="0" name=""/>
        <dsp:cNvSpPr/>
      </dsp:nvSpPr>
      <dsp:spPr>
        <a:xfrm rot="21590174">
          <a:off x="6518437" y="2955669"/>
          <a:ext cx="947447" cy="0"/>
        </a:xfrm>
        <a:custGeom>
          <a:avLst/>
          <a:gdLst/>
          <a:ahLst/>
          <a:cxnLst/>
          <a:rect l="0" t="0" r="0" b="0"/>
          <a:pathLst>
            <a:path>
              <a:moveTo>
                <a:pt x="0" y="0"/>
              </a:moveTo>
              <a:lnTo>
                <a:pt x="947447" y="0"/>
              </a:lnTo>
            </a:path>
          </a:pathLst>
        </a:custGeom>
        <a:noFill/>
        <a:ln w="12700" cap="flat" cmpd="sng" algn="ctr">
          <a:solidFill>
            <a:schemeClr val="accent4">
              <a:hueOff val="9800891"/>
              <a:satOff val="-40777"/>
              <a:lumOff val="9608"/>
              <a:alphaOff val="0"/>
            </a:schemeClr>
          </a:solidFill>
          <a:prstDash val="solid"/>
          <a:miter lim="800000"/>
        </a:ln>
        <a:effectLst/>
      </dsp:spPr>
      <dsp:style>
        <a:lnRef idx="2">
          <a:scrgbClr r="0" g="0" b="0"/>
        </a:lnRef>
        <a:fillRef idx="1">
          <a:scrgbClr r="0" g="0" b="0"/>
        </a:fillRef>
        <a:effectRef idx="0">
          <a:scrgbClr r="0" g="0" b="0"/>
        </a:effectRef>
        <a:fontRef idx="minor"/>
      </dsp:style>
    </dsp:sp>
    <dsp:sp modelId="{CFC7D86D-9F52-42A7-99BD-B3B2AFE39F01}">
      <dsp:nvSpPr>
        <dsp:cNvPr id="0" name=""/>
        <dsp:cNvSpPr/>
      </dsp:nvSpPr>
      <dsp:spPr>
        <a:xfrm>
          <a:off x="5257799" y="3211046"/>
          <a:ext cx="0" cy="768216"/>
        </a:xfrm>
        <a:prstGeom prst="line">
          <a:avLst/>
        </a:prstGeom>
        <a:noFill/>
        <a:ln w="12700" cap="flat" cmpd="sng" algn="ctr">
          <a:solidFill>
            <a:schemeClr val="accent4">
              <a:hueOff val="3266964"/>
              <a:satOff val="-13592"/>
              <a:lumOff val="3203"/>
              <a:alphaOff val="0"/>
            </a:schemeClr>
          </a:solidFill>
          <a:prstDash val="dash"/>
          <a:miter lim="800000"/>
        </a:ln>
        <a:effectLst/>
      </dsp:spPr>
      <dsp:style>
        <a:lnRef idx="1">
          <a:scrgbClr r="0" g="0" b="0"/>
        </a:lnRef>
        <a:fillRef idx="0">
          <a:scrgbClr r="0" g="0" b="0"/>
        </a:fillRef>
        <a:effectRef idx="0">
          <a:scrgbClr r="0" g="0" b="0"/>
        </a:effectRef>
        <a:fontRef idx="minor"/>
      </dsp:style>
    </dsp:sp>
    <dsp:sp modelId="{2AF15451-B3A5-4247-A3D2-D92CDA81DDE9}">
      <dsp:nvSpPr>
        <dsp:cNvPr id="0" name=""/>
        <dsp:cNvSpPr/>
      </dsp:nvSpPr>
      <dsp:spPr>
        <a:xfrm>
          <a:off x="5199788" y="3866404"/>
          <a:ext cx="116023" cy="153643"/>
        </a:xfrm>
        <a:prstGeom prst="rect">
          <a:avLst/>
        </a:prstGeom>
        <a:solidFill>
          <a:schemeClr val="accent4">
            <a:hueOff val="4900445"/>
            <a:satOff val="-20388"/>
            <a:lumOff val="4804"/>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F6AE0AB9-37EE-4BE5-B2D0-744CE6798B87}">
      <dsp:nvSpPr>
        <dsp:cNvPr id="0" name=""/>
        <dsp:cNvSpPr/>
      </dsp:nvSpPr>
      <dsp:spPr>
        <a:xfrm rot="10800000">
          <a:off x="7465883" y="2615363"/>
          <a:ext cx="2521279" cy="677903"/>
        </a:xfrm>
        <a:prstGeom prst="homePlate">
          <a:avLst>
            <a:gd name="adj" fmla="val 40000"/>
          </a:avLst>
        </a:prstGeom>
        <a:solidFill>
          <a:schemeClr val="accent4">
            <a:hueOff val="9800891"/>
            <a:satOff val="-40777"/>
            <a:lumOff val="9608"/>
            <a:alphaOff val="0"/>
          </a:schemeClr>
        </a:solidFill>
        <a:ln w="12700" cap="flat" cmpd="sng" algn="ctr">
          <a:solidFill>
            <a:schemeClr val="accent4">
              <a:hueOff val="9800891"/>
              <a:satOff val="-40777"/>
              <a:lumOff val="9608"/>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889000">
            <a:lnSpc>
              <a:spcPct val="90000"/>
            </a:lnSpc>
            <a:spcBef>
              <a:spcPct val="0"/>
            </a:spcBef>
            <a:spcAft>
              <a:spcPct val="35000"/>
            </a:spcAft>
            <a:buNone/>
          </a:pPr>
          <a:r>
            <a:rPr lang="en-US" sz="2000" kern="1200" dirty="0"/>
            <a:t>27th  July 2025</a:t>
          </a:r>
        </a:p>
      </dsp:txBody>
      <dsp:txXfrm rot="10800000">
        <a:off x="7601464" y="2615363"/>
        <a:ext cx="2385698" cy="677903"/>
      </dsp:txXfrm>
    </dsp:sp>
    <dsp:sp modelId="{0E3BD165-242B-4F30-9830-9DE502CCC726}">
      <dsp:nvSpPr>
        <dsp:cNvPr id="0" name=""/>
        <dsp:cNvSpPr/>
      </dsp:nvSpPr>
      <dsp:spPr>
        <a:xfrm>
          <a:off x="6975634" y="78039"/>
          <a:ext cx="3501776" cy="18077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0" rIns="0" bIns="177800" numCol="1" spcCol="1270" anchor="b" anchorCtr="1">
          <a:noAutofit/>
        </a:bodyPr>
        <a:lstStyle/>
        <a:p>
          <a:pPr marL="0" lvl="0" indent="0" algn="ctr" defTabSz="889000">
            <a:lnSpc>
              <a:spcPct val="90000"/>
            </a:lnSpc>
            <a:spcBef>
              <a:spcPct val="0"/>
            </a:spcBef>
            <a:spcAft>
              <a:spcPct val="35000"/>
            </a:spcAft>
            <a:buNone/>
          </a:pPr>
          <a:r>
            <a:rPr lang="en-US" sz="2000" kern="1200" dirty="0"/>
            <a:t>SAB </a:t>
          </a:r>
          <a:r>
            <a:rPr lang="en-US" sz="2000" kern="1200"/>
            <a:t>Cricket Fiesta </a:t>
          </a:r>
          <a:r>
            <a:rPr lang="en-US" sz="2000" kern="1200" dirty="0"/>
            <a:t>2025</a:t>
          </a:r>
        </a:p>
      </dsp:txBody>
      <dsp:txXfrm>
        <a:off x="6975634" y="78039"/>
        <a:ext cx="3501776" cy="1807743"/>
      </dsp:txXfrm>
    </dsp:sp>
    <dsp:sp modelId="{AFD946F1-2BB2-4411-A444-509F3BE471CF}">
      <dsp:nvSpPr>
        <dsp:cNvPr id="0" name=""/>
        <dsp:cNvSpPr/>
      </dsp:nvSpPr>
      <dsp:spPr>
        <a:xfrm>
          <a:off x="8726522" y="2033725"/>
          <a:ext cx="0" cy="564919"/>
        </a:xfrm>
        <a:prstGeom prst="line">
          <a:avLst/>
        </a:prstGeom>
        <a:noFill/>
        <a:ln w="12700" cap="flat" cmpd="sng" algn="ctr">
          <a:solidFill>
            <a:schemeClr val="accent4">
              <a:hueOff val="9800891"/>
              <a:satOff val="-40777"/>
              <a:lumOff val="9608"/>
              <a:alphaOff val="0"/>
            </a:schemeClr>
          </a:solidFill>
          <a:prstDash val="dash"/>
          <a:miter lim="800000"/>
        </a:ln>
        <a:effectLst/>
      </dsp:spPr>
      <dsp:style>
        <a:lnRef idx="1">
          <a:scrgbClr r="0" g="0" b="0"/>
        </a:lnRef>
        <a:fillRef idx="0">
          <a:scrgbClr r="0" g="0" b="0"/>
        </a:fillRef>
        <a:effectRef idx="0">
          <a:scrgbClr r="0" g="0" b="0"/>
        </a:effectRef>
        <a:fontRef idx="minor"/>
      </dsp:style>
    </dsp:sp>
    <dsp:sp modelId="{791E3511-FD7E-4784-9A2B-64FCAFC01BFC}">
      <dsp:nvSpPr>
        <dsp:cNvPr id="0" name=""/>
        <dsp:cNvSpPr/>
      </dsp:nvSpPr>
      <dsp:spPr>
        <a:xfrm>
          <a:off x="8668511" y="1911621"/>
          <a:ext cx="116023" cy="112983"/>
        </a:xfrm>
        <a:prstGeom prst="rect">
          <a:avLst/>
        </a:prstGeom>
        <a:solidFill>
          <a:schemeClr val="accent4">
            <a:hueOff val="9800891"/>
            <a:satOff val="-40777"/>
            <a:lumOff val="9608"/>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HexagonTimeline">
  <dgm:title val="Hexagon Timeline"/>
  <dgm:desc val="Use to show a list of events in chronological order. An invisible box contains the description while the date is shown in hexagons, except for the first and last node where the date is shown in a home shape. It can display large amount of text with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1" val="20"/>
      <dgm:constr type="primFontSz" for="des" forName="Childtext1" val="20"/>
      <dgm:constr type="primFontSz" for="des" forName="Childtext1" refType="primFontSz" refFor="des" refForName="Parent1" op="lte"/>
      <dgm:constr type="w" for="ch" forName="composite" refType="w"/>
      <dgm:constr type="h" for="ch" forName="composite" refType="h"/>
      <dgm:constr type="w" for="ch" forName="spaceBetweenRectangles" refType="w" fact="0"/>
      <dgm:constr type="h" for="ch" forName="spaceBetweenRectangles" refType="h" fact="0"/>
      <dgm:constr type="primFontSz" for="des" forName="Parent1" op="equ"/>
      <dgm:constr type="primFontSz" for="des" forName="Childtext1" op="equ"/>
    </dgm:constrLst>
    <dgm:forEach name="nodesForEach" axis="ch" ptType="node">
      <dgm:layoutNode name="composite">
        <dgm:alg type="composite"/>
        <dgm:shape xmlns:r="http://schemas.openxmlformats.org/officeDocument/2006/relationships" r:blip="">
          <dgm:adjLst/>
        </dgm:shape>
        <dgm:choose name="casesForSnakingLogic">
          <dgm:if name="Name7" axis="self" ptType="node" func="posOdd" op="equ" val="1">
            <dgm:constrLst>
              <dgm:constr type="w" for="ch" forName="Parent1" refType="w" fact="0.72"/>
              <dgm:constr type="ctrY" for="ch" forName="Parent1" refType="h" fact="0.5"/>
              <dgm:constr type="h" for="ch" forName="Parent1" refType="h" fact="0.12"/>
              <dgm:constr type="l" for="ch" forName="Parent1" refType="w" fact="0.14"/>
              <dgm:constr type="w" for="ch" forName="Childtext1" refType="w"/>
              <dgm:constr type="h" for="ch" forName="Childtext1" refType="h" fact="0.32"/>
              <dgm:constr type="t" for="ch" forName="Childtext1" refType="h" fact="0"/>
              <dgm:constr type="w" for="ch" forName="ConnectLine"/>
              <dgm:constr type="h" for="ch" forName="ConnectLine" refType="h" fact="0.1"/>
              <dgm:constr type="b" for="ch" forName="ConnectLine" refType="t" refFor="ch" refForName="Parent1"/>
              <dgm:constr type="ctrX" for="ch" forName="ConnectLine" refType="w" fact="0.5"/>
              <dgm:constr type="w" for="ch" forName="ConnectLineEnd" refType="h" fact="0.02"/>
              <dgm:constr type="h" for="ch" forName="ConnectLineEnd" refType="h" fact="0.02"/>
              <dgm:constr type="b" for="ch" forName="ConnectLineEnd" refType="t" refFor="ch" refForName="ConnectLine"/>
              <dgm:constr type="ctrX" for="ch" forName="ConnectLineEnd" refType="ctrX" refFor="ch" refForName="ConnectLine"/>
              <dgm:constr type="w" for="ch" forName="EmptyPane" refType="w"/>
              <dgm:constr type="b" for="ch" forName="EmptyPane" refType="h"/>
              <dgm:constr type="h" for="ch" forName="EmptyPane" refType="h" fact="0.44"/>
            </dgm:constrLst>
          </dgm:if>
          <dgm:else name="Name8">
            <dgm:constrLst>
              <dgm:constr type="w" for="ch" forName="Parent1" refType="w" fact="0.72"/>
              <dgm:constr type="ctrY" for="ch" forName="Parent1" refType="h" fact="0.5"/>
              <dgm:constr type="h" for="ch" forName="Parent1" refType="h" fact="0.12"/>
              <dgm:constr type="l" for="ch" forName="Parent1" refType="w" fact="0.14"/>
              <dgm:constr type="w" for="ch" forName="Childtext1" refType="w"/>
              <dgm:constr type="h" for="ch" forName="Childtext1" refType="h" fact="0.32"/>
              <dgm:constr type="b" for="ch" forName="Childtext1" refType="h"/>
              <dgm:constr type="w" for="ch" forName="ConnectLine"/>
              <dgm:constr type="h" for="ch" forName="ConnectLine" refType="h" fact="0.1"/>
              <dgm:constr type="t" for="ch" forName="ConnectLine" refType="b" refFor="ch" refForName="Parent1"/>
              <dgm:constr type="ctrX" for="ch" forName="ConnectLine" refType="w" fact="0.5"/>
              <dgm:constr type="w" for="ch" forName="ConnectLineEnd" refType="h" fact="0.02"/>
              <dgm:constr type="h" for="ch" forName="ConnectLineEnd" refType="h" fact="0.02"/>
              <dgm:constr type="t" for="ch" forName="ConnectLineEnd" refType="b" refFor="ch" refForName="ConnectLine"/>
              <dgm:constr type="ctrX" for="ch" forName="ConnectLineEnd" refType="ctrX" refFor="ch" refForName="ConnectLine"/>
              <dgm:constr type="w" for="ch" forName="EmptyPane" refType="w"/>
              <dgm:constr type="h" for="ch" forName="EmptyPane" refType="h" fact="0.44"/>
            </dgm:constrLst>
          </dgm:else>
        </dgm:choose>
        <dgm:layoutNode name="Parent1" styleLbl="alignNode1">
          <dgm:varLst>
            <dgm:chMax val="1"/>
            <dgm:chPref val="1"/>
            <dgm:bulletEnabled val="1"/>
          </dgm:varLst>
          <dgm:alg type="tx"/>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ect" r:blip="">
                    <dgm:adjLst/>
                  </dgm:shape>
                </dgm:if>
                <dgm:else name="ifMoreThanOneNode">
                  <dgm:choose name="Name18">
                    <dgm:if name="Name19" func="var" arg="dir" op="equ" val="norm">
                      <dgm:shape xmlns:r="http://schemas.openxmlformats.org/officeDocument/2006/relationships" type="homePlate" r:blip="">
                        <dgm:adjLst>
                          <dgm:adj idx="1" val="0.4"/>
                        </dgm:adjLst>
                      </dgm:shape>
                    </dgm:if>
                    <dgm:else name="Name20">
                      <dgm:shape xmlns:r="http://schemas.openxmlformats.org/officeDocument/2006/relationships" rot="180" type="homePlate" r:blip="">
                        <dgm:adjLst>
                          <dgm:adj idx="1" val="0.4"/>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180" type="homePlate" r:blip="">
                        <dgm:adjLst>
                          <dgm:adj idx="1" val="0.4"/>
                        </dgm:adjLst>
                      </dgm:shape>
                    </dgm:if>
                    <dgm:else name="Name26">
                      <dgm:shape xmlns:r="http://schemas.openxmlformats.org/officeDocument/2006/relationships" type="homePlate" r:blip="">
                        <dgm:adjLst>
                          <dgm:adj idx="1" val="0.4"/>
                        </dgm:adjLst>
                      </dgm:shape>
                    </dgm:else>
                  </dgm:choose>
                </dgm:if>
                <dgm:else name="Name27">
                  <dgm:shape xmlns:r="http://schemas.openxmlformats.org/officeDocument/2006/relationships" type="hexagon" r:blip="">
                    <dgm:adjLst>
                      <dgm:adj idx="1" val="0.4"/>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moveWith="Parent1">
          <dgm:varLst>
            <dgm:chMax val="0"/>
            <dgm:chPref val="0"/>
            <dgm:bulletEnabled/>
          </dgm:varLst>
          <dgm:choose name="casesForTxtDirLogic1">
            <dgm:if name="Name77" axis="self" ptType="node" func="posOdd" op="equ" val="1">
              <dgm:alg type="tx">
                <dgm:param type="txAnchorVert" val="b"/>
                <dgm:param type="txAnchorHorz" val="ctr"/>
                <dgm:param type="parTxRTLAlign" val="ctr"/>
                <dgm:param type="parTxLTRAlign" val="ctr"/>
              </dgm:alg>
            </dgm:if>
            <dgm:else name="Name88">
              <dgm:alg type="tx">
                <dgm:param type="txAnchorVert" val="t"/>
                <dgm:param type="txAnchorHorz" val="ctr"/>
                <dgm:param type="parTxRTLAlign" val="ctr"/>
                <dgm:param type="parTxLTRAlign" val="ctr"/>
              </dgm:alg>
            </dgm:else>
          </dgm:choose>
          <dgm:shape xmlns:r="http://schemas.openxmlformats.org/officeDocument/2006/relationships" type="rect" r:blip="">
            <dgm:adjLst/>
          </dgm:shape>
          <dgm:constrLst>
            <dgm:constr type="lMarg"/>
            <dgm:constr type="rMarg"/>
            <dgm:constr type="tMarg" refType="primFontSz" fact="0.7"/>
            <dgm:constr type="bMarg" refType="primFontSz" fact="0.7"/>
          </dgm:constrLst>
          <dgm:presOf axis="ch" ptType="node"/>
          <dgm:ruleLst>
            <dgm:rule type="primFontSz" val="11" fact="NaN" max="NaN"/>
          </dgm:ruleLst>
        </dgm:layoutNode>
        <dgm:layoutNode name="ConnectLine" styleLbl="sibTrans1D1" moveWith="Parent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ConnectLineEnd" styleLbl="node1" moveWith="Parent1">
          <dgm:alg type="sp"/>
          <dgm:shape xmlns:r="http://schemas.openxmlformats.org/officeDocument/2006/relationships" type="rect" r:blip="">
            <dgm:adjLst/>
          </dgm:shape>
          <dgm:presOf/>
          <dgm:constrLst/>
        </dgm:layoutNode>
        <dgm:layoutNode name="EmptyPane" moveWith="Parent1">
          <dgm:alg type="sp"/>
          <dgm:shape xmlns:r="http://schemas.openxmlformats.org/officeDocument/2006/relationships" r:blip="">
            <dgm:adjLst/>
          </dgm:shape>
          <dgm:presOf/>
          <dgm:constrLst/>
        </dgm:layoutNode>
      </dgm:layoutNode>
      <dgm:forEach name="Name28" axis="followSib" ptType="sibTrans" cnt="1">
        <dgm:layoutNode name="spaceBetweenRectangles" styleLbl="fgAcc1">
          <dgm:alg type="conn">
            <dgm:param type="dim" val="1D"/>
            <dgm:param type="srcNode" val="Parent1"/>
            <dgm:param type="dstNode" val="Parent1"/>
            <dgm:param type="begPts" val="midR"/>
            <dgm:param type="endPts" val="midL"/>
            <dgm:param type="endSty" val="noArr"/>
          </dgm:alg>
          <dgm:shape xmlns:r="http://schemas.openxmlformats.org/officeDocument/2006/relationships" type="conn" r:blip="" zOrderOff="-2">
            <dgm:adjLst/>
          </dgm:shape>
          <dgm:presOf/>
          <dgm:constrLst>
            <dgm:constr type="connDi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7B8429-B690-4D98-81D3-F42DD2AEFA0C}" type="datetimeFigureOut">
              <a:rPr lang="en-US" smtClean="0"/>
              <a:t>2/20/2026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6C48CC-D4DC-42AD-AC02-CDF7BD55ED3C}" type="slidenum">
              <a:rPr lang="en-US" smtClean="0"/>
              <a:t>‹#›</a:t>
            </a:fld>
            <a:endParaRPr lang="en-US"/>
          </a:p>
        </p:txBody>
      </p:sp>
    </p:spTree>
    <p:extLst>
      <p:ext uri="{BB962C8B-B14F-4D97-AF65-F5344CB8AC3E}">
        <p14:creationId xmlns:p14="http://schemas.microsoft.com/office/powerpoint/2010/main" val="1885792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568D3-9102-4FEE-91CF-1C9E58B603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D97A8E2-872E-4293-97E5-6AC7AEA49D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BBF2854-460D-4397-BBD6-F575DB4E1DE1}"/>
              </a:ext>
            </a:extLst>
          </p:cNvPr>
          <p:cNvSpPr>
            <a:spLocks noGrp="1"/>
          </p:cNvSpPr>
          <p:nvPr>
            <p:ph type="dt" sz="half" idx="10"/>
          </p:nvPr>
        </p:nvSpPr>
        <p:spPr/>
        <p:txBody>
          <a:bodyPr/>
          <a:lstStyle/>
          <a:p>
            <a:fld id="{C68C2E3D-2991-4FF6-99AB-1CFACD8FA207}" type="datetimeFigureOut">
              <a:rPr lang="en-US" smtClean="0"/>
              <a:t>2/20/2026</a:t>
            </a:fld>
            <a:endParaRPr lang="en-US"/>
          </a:p>
        </p:txBody>
      </p:sp>
      <p:sp>
        <p:nvSpPr>
          <p:cNvPr id="5" name="Footer Placeholder 4">
            <a:extLst>
              <a:ext uri="{FF2B5EF4-FFF2-40B4-BE49-F238E27FC236}">
                <a16:creationId xmlns:a16="http://schemas.microsoft.com/office/drawing/2014/main" id="{FCBC7B98-0428-40D7-BA17-786C7BE420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5950CC-1590-425D-B459-9B68A7C058AA}"/>
              </a:ext>
            </a:extLst>
          </p:cNvPr>
          <p:cNvSpPr>
            <a:spLocks noGrp="1"/>
          </p:cNvSpPr>
          <p:nvPr>
            <p:ph type="sldNum" sz="quarter" idx="12"/>
          </p:nvPr>
        </p:nvSpPr>
        <p:spPr/>
        <p:txBody>
          <a:bodyPr/>
          <a:lstStyle/>
          <a:p>
            <a:fld id="{F33F17A7-2CD4-4A01-8DAD-1A2C216429C0}" type="slidenum">
              <a:rPr lang="en-US" smtClean="0"/>
              <a:t>‹#›</a:t>
            </a:fld>
            <a:endParaRPr lang="en-US"/>
          </a:p>
        </p:txBody>
      </p:sp>
    </p:spTree>
    <p:extLst>
      <p:ext uri="{BB962C8B-B14F-4D97-AF65-F5344CB8AC3E}">
        <p14:creationId xmlns:p14="http://schemas.microsoft.com/office/powerpoint/2010/main" val="3892272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3A489-D742-4D76-A54C-8F9304AB09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713B88-0312-4405-9424-E5D389CDCC7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85467-BB58-4CB2-AA72-FD0F4911E125}"/>
              </a:ext>
            </a:extLst>
          </p:cNvPr>
          <p:cNvSpPr>
            <a:spLocks noGrp="1"/>
          </p:cNvSpPr>
          <p:nvPr>
            <p:ph type="dt" sz="half" idx="10"/>
          </p:nvPr>
        </p:nvSpPr>
        <p:spPr/>
        <p:txBody>
          <a:bodyPr/>
          <a:lstStyle/>
          <a:p>
            <a:fld id="{C68C2E3D-2991-4FF6-99AB-1CFACD8FA207}" type="datetimeFigureOut">
              <a:rPr lang="en-US" smtClean="0"/>
              <a:t>2/20/2026</a:t>
            </a:fld>
            <a:endParaRPr lang="en-US"/>
          </a:p>
        </p:txBody>
      </p:sp>
      <p:sp>
        <p:nvSpPr>
          <p:cNvPr id="5" name="Footer Placeholder 4">
            <a:extLst>
              <a:ext uri="{FF2B5EF4-FFF2-40B4-BE49-F238E27FC236}">
                <a16:creationId xmlns:a16="http://schemas.microsoft.com/office/drawing/2014/main" id="{D6CFB6B6-3F33-4A52-AF9D-FB48EABBE8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077ADA-2CB0-42A0-83A3-A34B3CF257E4}"/>
              </a:ext>
            </a:extLst>
          </p:cNvPr>
          <p:cNvSpPr>
            <a:spLocks noGrp="1"/>
          </p:cNvSpPr>
          <p:nvPr>
            <p:ph type="sldNum" sz="quarter" idx="12"/>
          </p:nvPr>
        </p:nvSpPr>
        <p:spPr/>
        <p:txBody>
          <a:bodyPr/>
          <a:lstStyle/>
          <a:p>
            <a:fld id="{F33F17A7-2CD4-4A01-8DAD-1A2C216429C0}" type="slidenum">
              <a:rPr lang="en-US" smtClean="0"/>
              <a:t>‹#›</a:t>
            </a:fld>
            <a:endParaRPr lang="en-US"/>
          </a:p>
        </p:txBody>
      </p:sp>
    </p:spTree>
    <p:extLst>
      <p:ext uri="{BB962C8B-B14F-4D97-AF65-F5344CB8AC3E}">
        <p14:creationId xmlns:p14="http://schemas.microsoft.com/office/powerpoint/2010/main" val="762402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CD077-F534-4A7E-8ACF-40FFADE4D5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2F1492-0269-4B26-A75E-55044A5BB78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F1B163F-3633-4935-AFF3-F5F4EC00B28D}"/>
              </a:ext>
            </a:extLst>
          </p:cNvPr>
          <p:cNvSpPr>
            <a:spLocks noGrp="1"/>
          </p:cNvSpPr>
          <p:nvPr>
            <p:ph type="dt" sz="half" idx="10"/>
          </p:nvPr>
        </p:nvSpPr>
        <p:spPr/>
        <p:txBody>
          <a:bodyPr/>
          <a:lstStyle/>
          <a:p>
            <a:fld id="{C68C2E3D-2991-4FF6-99AB-1CFACD8FA207}" type="datetimeFigureOut">
              <a:rPr lang="en-US" smtClean="0"/>
              <a:t>2/20/2026</a:t>
            </a:fld>
            <a:endParaRPr lang="en-US"/>
          </a:p>
        </p:txBody>
      </p:sp>
      <p:sp>
        <p:nvSpPr>
          <p:cNvPr id="5" name="Footer Placeholder 4">
            <a:extLst>
              <a:ext uri="{FF2B5EF4-FFF2-40B4-BE49-F238E27FC236}">
                <a16:creationId xmlns:a16="http://schemas.microsoft.com/office/drawing/2014/main" id="{AD2F1CBA-C0D1-4D55-A971-E02D7898C1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748442-3629-454F-8E6E-914ED0DBBBEE}"/>
              </a:ext>
            </a:extLst>
          </p:cNvPr>
          <p:cNvSpPr>
            <a:spLocks noGrp="1"/>
          </p:cNvSpPr>
          <p:nvPr>
            <p:ph type="sldNum" sz="quarter" idx="12"/>
          </p:nvPr>
        </p:nvSpPr>
        <p:spPr/>
        <p:txBody>
          <a:bodyPr/>
          <a:lstStyle/>
          <a:p>
            <a:fld id="{F33F17A7-2CD4-4A01-8DAD-1A2C216429C0}" type="slidenum">
              <a:rPr lang="en-US" smtClean="0"/>
              <a:t>‹#›</a:t>
            </a:fld>
            <a:endParaRPr lang="en-US"/>
          </a:p>
        </p:txBody>
      </p:sp>
    </p:spTree>
    <p:extLst>
      <p:ext uri="{BB962C8B-B14F-4D97-AF65-F5344CB8AC3E}">
        <p14:creationId xmlns:p14="http://schemas.microsoft.com/office/powerpoint/2010/main" val="2069506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3D819-187A-40E0-AABF-D5374FAC6B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3C9461-64E2-412D-BBC0-F7A7D7678D3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D5B74F-85E9-4F28-9DE0-73ADE505375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5E05D0-BC1A-4309-8527-74E494832C68}"/>
              </a:ext>
            </a:extLst>
          </p:cNvPr>
          <p:cNvSpPr>
            <a:spLocks noGrp="1"/>
          </p:cNvSpPr>
          <p:nvPr>
            <p:ph type="dt" sz="half" idx="10"/>
          </p:nvPr>
        </p:nvSpPr>
        <p:spPr/>
        <p:txBody>
          <a:bodyPr/>
          <a:lstStyle/>
          <a:p>
            <a:fld id="{C68C2E3D-2991-4FF6-99AB-1CFACD8FA207}" type="datetimeFigureOut">
              <a:rPr lang="en-US" smtClean="0"/>
              <a:t>2/20/2026</a:t>
            </a:fld>
            <a:endParaRPr lang="en-US"/>
          </a:p>
        </p:txBody>
      </p:sp>
      <p:sp>
        <p:nvSpPr>
          <p:cNvPr id="6" name="Footer Placeholder 5">
            <a:extLst>
              <a:ext uri="{FF2B5EF4-FFF2-40B4-BE49-F238E27FC236}">
                <a16:creationId xmlns:a16="http://schemas.microsoft.com/office/drawing/2014/main" id="{EE88AC4A-EC4F-4E96-903C-2649C92691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8BF034-A372-4C5F-BA09-34CD81AC5E78}"/>
              </a:ext>
            </a:extLst>
          </p:cNvPr>
          <p:cNvSpPr>
            <a:spLocks noGrp="1"/>
          </p:cNvSpPr>
          <p:nvPr>
            <p:ph type="sldNum" sz="quarter" idx="12"/>
          </p:nvPr>
        </p:nvSpPr>
        <p:spPr/>
        <p:txBody>
          <a:bodyPr/>
          <a:lstStyle/>
          <a:p>
            <a:fld id="{F33F17A7-2CD4-4A01-8DAD-1A2C216429C0}" type="slidenum">
              <a:rPr lang="en-US" smtClean="0"/>
              <a:t>‹#›</a:t>
            </a:fld>
            <a:endParaRPr lang="en-US"/>
          </a:p>
        </p:txBody>
      </p:sp>
    </p:spTree>
    <p:extLst>
      <p:ext uri="{BB962C8B-B14F-4D97-AF65-F5344CB8AC3E}">
        <p14:creationId xmlns:p14="http://schemas.microsoft.com/office/powerpoint/2010/main" val="3724897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FE65D-ACE8-4829-86CF-AD06CE0069C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8C0305-A72D-4852-AB72-3AAF4AD689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C65821A-4E0D-4F7B-A85B-AF91C6C1CAF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BC22E64-DF03-4E8C-B377-AE55F52459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568A589-1756-4234-8878-274DEC3F2DF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4C47F14-6685-4B98-8F37-8DE3B8AD999A}"/>
              </a:ext>
            </a:extLst>
          </p:cNvPr>
          <p:cNvSpPr>
            <a:spLocks noGrp="1"/>
          </p:cNvSpPr>
          <p:nvPr>
            <p:ph type="dt" sz="half" idx="10"/>
          </p:nvPr>
        </p:nvSpPr>
        <p:spPr/>
        <p:txBody>
          <a:bodyPr/>
          <a:lstStyle/>
          <a:p>
            <a:fld id="{C68C2E3D-2991-4FF6-99AB-1CFACD8FA207}" type="datetimeFigureOut">
              <a:rPr lang="en-US" smtClean="0"/>
              <a:t>2/20/2026</a:t>
            </a:fld>
            <a:endParaRPr lang="en-US"/>
          </a:p>
        </p:txBody>
      </p:sp>
      <p:sp>
        <p:nvSpPr>
          <p:cNvPr id="8" name="Footer Placeholder 7">
            <a:extLst>
              <a:ext uri="{FF2B5EF4-FFF2-40B4-BE49-F238E27FC236}">
                <a16:creationId xmlns:a16="http://schemas.microsoft.com/office/drawing/2014/main" id="{207036F9-311E-44DB-B2BE-18368E1E83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8EB4D73-4CC3-460B-AB6A-AFE0924F1DC2}"/>
              </a:ext>
            </a:extLst>
          </p:cNvPr>
          <p:cNvSpPr>
            <a:spLocks noGrp="1"/>
          </p:cNvSpPr>
          <p:nvPr>
            <p:ph type="sldNum" sz="quarter" idx="12"/>
          </p:nvPr>
        </p:nvSpPr>
        <p:spPr/>
        <p:txBody>
          <a:bodyPr/>
          <a:lstStyle/>
          <a:p>
            <a:fld id="{F33F17A7-2CD4-4A01-8DAD-1A2C216429C0}" type="slidenum">
              <a:rPr lang="en-US" smtClean="0"/>
              <a:t>‹#›</a:t>
            </a:fld>
            <a:endParaRPr lang="en-US"/>
          </a:p>
        </p:txBody>
      </p:sp>
    </p:spTree>
    <p:extLst>
      <p:ext uri="{BB962C8B-B14F-4D97-AF65-F5344CB8AC3E}">
        <p14:creationId xmlns:p14="http://schemas.microsoft.com/office/powerpoint/2010/main" val="249425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5E9DD-1F42-4BCD-9B27-CCD4A79579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254AF9-E273-4F6C-AD72-D9AA4550E4E3}"/>
              </a:ext>
            </a:extLst>
          </p:cNvPr>
          <p:cNvSpPr>
            <a:spLocks noGrp="1"/>
          </p:cNvSpPr>
          <p:nvPr>
            <p:ph type="dt" sz="half" idx="10"/>
          </p:nvPr>
        </p:nvSpPr>
        <p:spPr/>
        <p:txBody>
          <a:bodyPr/>
          <a:lstStyle/>
          <a:p>
            <a:fld id="{C68C2E3D-2991-4FF6-99AB-1CFACD8FA207}" type="datetimeFigureOut">
              <a:rPr lang="en-US" smtClean="0"/>
              <a:t>2/20/2026</a:t>
            </a:fld>
            <a:endParaRPr lang="en-US"/>
          </a:p>
        </p:txBody>
      </p:sp>
      <p:sp>
        <p:nvSpPr>
          <p:cNvPr id="4" name="Footer Placeholder 3">
            <a:extLst>
              <a:ext uri="{FF2B5EF4-FFF2-40B4-BE49-F238E27FC236}">
                <a16:creationId xmlns:a16="http://schemas.microsoft.com/office/drawing/2014/main" id="{C4760BA9-81CA-41FB-A3F7-A6F92C1433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410FBEF-1BE1-4DCE-A314-BA172DD48067}"/>
              </a:ext>
            </a:extLst>
          </p:cNvPr>
          <p:cNvSpPr>
            <a:spLocks noGrp="1"/>
          </p:cNvSpPr>
          <p:nvPr>
            <p:ph type="sldNum" sz="quarter" idx="12"/>
          </p:nvPr>
        </p:nvSpPr>
        <p:spPr/>
        <p:txBody>
          <a:bodyPr/>
          <a:lstStyle/>
          <a:p>
            <a:fld id="{F33F17A7-2CD4-4A01-8DAD-1A2C216429C0}" type="slidenum">
              <a:rPr lang="en-US" smtClean="0"/>
              <a:t>‹#›</a:t>
            </a:fld>
            <a:endParaRPr lang="en-US"/>
          </a:p>
        </p:txBody>
      </p:sp>
    </p:spTree>
    <p:extLst>
      <p:ext uri="{BB962C8B-B14F-4D97-AF65-F5344CB8AC3E}">
        <p14:creationId xmlns:p14="http://schemas.microsoft.com/office/powerpoint/2010/main" val="2924992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8DAEB3-1075-4A29-8598-73DB3F054E47}"/>
              </a:ext>
            </a:extLst>
          </p:cNvPr>
          <p:cNvSpPr>
            <a:spLocks noGrp="1"/>
          </p:cNvSpPr>
          <p:nvPr>
            <p:ph type="dt" sz="half" idx="10"/>
          </p:nvPr>
        </p:nvSpPr>
        <p:spPr/>
        <p:txBody>
          <a:bodyPr/>
          <a:lstStyle/>
          <a:p>
            <a:fld id="{C68C2E3D-2991-4FF6-99AB-1CFACD8FA207}" type="datetimeFigureOut">
              <a:rPr lang="en-US" smtClean="0"/>
              <a:t>2/20/2026</a:t>
            </a:fld>
            <a:endParaRPr lang="en-US"/>
          </a:p>
        </p:txBody>
      </p:sp>
      <p:sp>
        <p:nvSpPr>
          <p:cNvPr id="3" name="Footer Placeholder 2">
            <a:extLst>
              <a:ext uri="{FF2B5EF4-FFF2-40B4-BE49-F238E27FC236}">
                <a16:creationId xmlns:a16="http://schemas.microsoft.com/office/drawing/2014/main" id="{35924174-9BCE-4E64-9A79-FBF1A8493FF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C3BCEAE-DC6B-4907-A45A-69DE65B1C1B9}"/>
              </a:ext>
            </a:extLst>
          </p:cNvPr>
          <p:cNvSpPr>
            <a:spLocks noGrp="1"/>
          </p:cNvSpPr>
          <p:nvPr>
            <p:ph type="sldNum" sz="quarter" idx="12"/>
          </p:nvPr>
        </p:nvSpPr>
        <p:spPr/>
        <p:txBody>
          <a:bodyPr/>
          <a:lstStyle/>
          <a:p>
            <a:fld id="{F33F17A7-2CD4-4A01-8DAD-1A2C216429C0}" type="slidenum">
              <a:rPr lang="en-US" smtClean="0"/>
              <a:t>‹#›</a:t>
            </a:fld>
            <a:endParaRPr lang="en-US"/>
          </a:p>
        </p:txBody>
      </p:sp>
    </p:spTree>
    <p:extLst>
      <p:ext uri="{BB962C8B-B14F-4D97-AF65-F5344CB8AC3E}">
        <p14:creationId xmlns:p14="http://schemas.microsoft.com/office/powerpoint/2010/main" val="26593098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CB32-455B-44C6-88FB-C808A76175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B753A17-2D4E-4665-97EA-8E69A9B40F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B85F3DB-52ED-4C6C-9BF6-6BEB26F28E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34D17F-8FB4-42C8-8775-DBA2923CD1D9}"/>
              </a:ext>
            </a:extLst>
          </p:cNvPr>
          <p:cNvSpPr>
            <a:spLocks noGrp="1"/>
          </p:cNvSpPr>
          <p:nvPr>
            <p:ph type="dt" sz="half" idx="10"/>
          </p:nvPr>
        </p:nvSpPr>
        <p:spPr/>
        <p:txBody>
          <a:bodyPr/>
          <a:lstStyle/>
          <a:p>
            <a:fld id="{C68C2E3D-2991-4FF6-99AB-1CFACD8FA207}" type="datetimeFigureOut">
              <a:rPr lang="en-US" smtClean="0"/>
              <a:t>2/20/2026</a:t>
            </a:fld>
            <a:endParaRPr lang="en-US"/>
          </a:p>
        </p:txBody>
      </p:sp>
      <p:sp>
        <p:nvSpPr>
          <p:cNvPr id="6" name="Footer Placeholder 5">
            <a:extLst>
              <a:ext uri="{FF2B5EF4-FFF2-40B4-BE49-F238E27FC236}">
                <a16:creationId xmlns:a16="http://schemas.microsoft.com/office/drawing/2014/main" id="{DDBEB707-F4ED-4F47-81EB-97E1625CBA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105D59-A708-4B29-A08C-F5C466F2B4F6}"/>
              </a:ext>
            </a:extLst>
          </p:cNvPr>
          <p:cNvSpPr>
            <a:spLocks noGrp="1"/>
          </p:cNvSpPr>
          <p:nvPr>
            <p:ph type="sldNum" sz="quarter" idx="12"/>
          </p:nvPr>
        </p:nvSpPr>
        <p:spPr/>
        <p:txBody>
          <a:bodyPr/>
          <a:lstStyle/>
          <a:p>
            <a:fld id="{F33F17A7-2CD4-4A01-8DAD-1A2C216429C0}" type="slidenum">
              <a:rPr lang="en-US" smtClean="0"/>
              <a:t>‹#›</a:t>
            </a:fld>
            <a:endParaRPr lang="en-US"/>
          </a:p>
        </p:txBody>
      </p:sp>
    </p:spTree>
    <p:extLst>
      <p:ext uri="{BB962C8B-B14F-4D97-AF65-F5344CB8AC3E}">
        <p14:creationId xmlns:p14="http://schemas.microsoft.com/office/powerpoint/2010/main" val="2782431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96010-8A3F-4204-9A94-3133C64D60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5185BB-485C-4BA5-9BDA-420BE24490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B13E2D-8460-4E78-A74E-EA3BED8717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7A0C1C0-3755-4E3B-BEBB-2C9CBFA08B3D}"/>
              </a:ext>
            </a:extLst>
          </p:cNvPr>
          <p:cNvSpPr>
            <a:spLocks noGrp="1"/>
          </p:cNvSpPr>
          <p:nvPr>
            <p:ph type="dt" sz="half" idx="10"/>
          </p:nvPr>
        </p:nvSpPr>
        <p:spPr/>
        <p:txBody>
          <a:bodyPr/>
          <a:lstStyle/>
          <a:p>
            <a:fld id="{C68C2E3D-2991-4FF6-99AB-1CFACD8FA207}" type="datetimeFigureOut">
              <a:rPr lang="en-US" smtClean="0"/>
              <a:t>2/20/2026</a:t>
            </a:fld>
            <a:endParaRPr lang="en-US"/>
          </a:p>
        </p:txBody>
      </p:sp>
      <p:sp>
        <p:nvSpPr>
          <p:cNvPr id="6" name="Footer Placeholder 5">
            <a:extLst>
              <a:ext uri="{FF2B5EF4-FFF2-40B4-BE49-F238E27FC236}">
                <a16:creationId xmlns:a16="http://schemas.microsoft.com/office/drawing/2014/main" id="{CB22F1EE-89B6-4ABE-A869-4F4F4992FB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DD20C8-2FBD-4912-91AB-8C9FAD5CC515}"/>
              </a:ext>
            </a:extLst>
          </p:cNvPr>
          <p:cNvSpPr>
            <a:spLocks noGrp="1"/>
          </p:cNvSpPr>
          <p:nvPr>
            <p:ph type="sldNum" sz="quarter" idx="12"/>
          </p:nvPr>
        </p:nvSpPr>
        <p:spPr/>
        <p:txBody>
          <a:bodyPr/>
          <a:lstStyle/>
          <a:p>
            <a:fld id="{F33F17A7-2CD4-4A01-8DAD-1A2C216429C0}" type="slidenum">
              <a:rPr lang="en-US" smtClean="0"/>
              <a:t>‹#›</a:t>
            </a:fld>
            <a:endParaRPr lang="en-US"/>
          </a:p>
        </p:txBody>
      </p:sp>
    </p:spTree>
    <p:extLst>
      <p:ext uri="{BB962C8B-B14F-4D97-AF65-F5344CB8AC3E}">
        <p14:creationId xmlns:p14="http://schemas.microsoft.com/office/powerpoint/2010/main" val="2324490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8A6D8-2639-4642-8695-C0797B2568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B32311D-891D-4221-B5F0-D62210D0433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B7BB9-9A83-43A2-A306-22582F0A3451}"/>
              </a:ext>
            </a:extLst>
          </p:cNvPr>
          <p:cNvSpPr>
            <a:spLocks noGrp="1"/>
          </p:cNvSpPr>
          <p:nvPr>
            <p:ph type="dt" sz="half" idx="10"/>
          </p:nvPr>
        </p:nvSpPr>
        <p:spPr/>
        <p:txBody>
          <a:bodyPr/>
          <a:lstStyle/>
          <a:p>
            <a:fld id="{C68C2E3D-2991-4FF6-99AB-1CFACD8FA207}" type="datetimeFigureOut">
              <a:rPr lang="en-US" smtClean="0"/>
              <a:t>2/20/2026</a:t>
            </a:fld>
            <a:endParaRPr lang="en-US"/>
          </a:p>
        </p:txBody>
      </p:sp>
      <p:sp>
        <p:nvSpPr>
          <p:cNvPr id="5" name="Footer Placeholder 4">
            <a:extLst>
              <a:ext uri="{FF2B5EF4-FFF2-40B4-BE49-F238E27FC236}">
                <a16:creationId xmlns:a16="http://schemas.microsoft.com/office/drawing/2014/main" id="{DC50DA5C-D27F-403E-AD84-9E64B35A3B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67A8D2-8BE0-4F6A-AC81-D52A669ACF72}"/>
              </a:ext>
            </a:extLst>
          </p:cNvPr>
          <p:cNvSpPr>
            <a:spLocks noGrp="1"/>
          </p:cNvSpPr>
          <p:nvPr>
            <p:ph type="sldNum" sz="quarter" idx="12"/>
          </p:nvPr>
        </p:nvSpPr>
        <p:spPr/>
        <p:txBody>
          <a:bodyPr/>
          <a:lstStyle/>
          <a:p>
            <a:fld id="{F33F17A7-2CD4-4A01-8DAD-1A2C216429C0}" type="slidenum">
              <a:rPr lang="en-US" smtClean="0"/>
              <a:t>‹#›</a:t>
            </a:fld>
            <a:endParaRPr lang="en-US"/>
          </a:p>
        </p:txBody>
      </p:sp>
    </p:spTree>
    <p:extLst>
      <p:ext uri="{BB962C8B-B14F-4D97-AF65-F5344CB8AC3E}">
        <p14:creationId xmlns:p14="http://schemas.microsoft.com/office/powerpoint/2010/main" val="1324103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B0DD33-EA04-4173-9E8A-F7F1DBCEDEE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5DE9165-CEC2-488F-87FB-A02163ACE44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474C03-82D5-42D1-ABE7-BD88B275C9EB}"/>
              </a:ext>
            </a:extLst>
          </p:cNvPr>
          <p:cNvSpPr>
            <a:spLocks noGrp="1"/>
          </p:cNvSpPr>
          <p:nvPr>
            <p:ph type="dt" sz="half" idx="10"/>
          </p:nvPr>
        </p:nvSpPr>
        <p:spPr/>
        <p:txBody>
          <a:bodyPr/>
          <a:lstStyle/>
          <a:p>
            <a:fld id="{C68C2E3D-2991-4FF6-99AB-1CFACD8FA207}" type="datetimeFigureOut">
              <a:rPr lang="en-US" smtClean="0"/>
              <a:t>2/20/2026</a:t>
            </a:fld>
            <a:endParaRPr lang="en-US"/>
          </a:p>
        </p:txBody>
      </p:sp>
      <p:sp>
        <p:nvSpPr>
          <p:cNvPr id="5" name="Footer Placeholder 4">
            <a:extLst>
              <a:ext uri="{FF2B5EF4-FFF2-40B4-BE49-F238E27FC236}">
                <a16:creationId xmlns:a16="http://schemas.microsoft.com/office/drawing/2014/main" id="{9AA25E7C-D974-469E-8D42-5CFA222D80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40FEA8-725F-4E93-9299-CBF46344FF22}"/>
              </a:ext>
            </a:extLst>
          </p:cNvPr>
          <p:cNvSpPr>
            <a:spLocks noGrp="1"/>
          </p:cNvSpPr>
          <p:nvPr>
            <p:ph type="sldNum" sz="quarter" idx="12"/>
          </p:nvPr>
        </p:nvSpPr>
        <p:spPr/>
        <p:txBody>
          <a:bodyPr/>
          <a:lstStyle/>
          <a:p>
            <a:fld id="{F33F17A7-2CD4-4A01-8DAD-1A2C216429C0}" type="slidenum">
              <a:rPr lang="en-US" smtClean="0"/>
              <a:t>‹#›</a:t>
            </a:fld>
            <a:endParaRPr lang="en-US"/>
          </a:p>
        </p:txBody>
      </p:sp>
    </p:spTree>
    <p:extLst>
      <p:ext uri="{BB962C8B-B14F-4D97-AF65-F5344CB8AC3E}">
        <p14:creationId xmlns:p14="http://schemas.microsoft.com/office/powerpoint/2010/main" val="1517997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51CC1E-DD80-4B59-BE2A-FC0CFD1BF5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CEEA307-4676-44F0-8C51-637BC6D40F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E66B2E-6B34-4993-95A6-942EB8FD54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8C2E3D-2991-4FF6-99AB-1CFACD8FA207}" type="datetimeFigureOut">
              <a:rPr lang="en-US" smtClean="0"/>
              <a:t>2/20/2026</a:t>
            </a:fld>
            <a:endParaRPr lang="en-US"/>
          </a:p>
        </p:txBody>
      </p:sp>
      <p:sp>
        <p:nvSpPr>
          <p:cNvPr id="5" name="Footer Placeholder 4">
            <a:extLst>
              <a:ext uri="{FF2B5EF4-FFF2-40B4-BE49-F238E27FC236}">
                <a16:creationId xmlns:a16="http://schemas.microsoft.com/office/drawing/2014/main" id="{3528C7DF-ECFA-4161-B18B-8AF3DD71AC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4F1A484-8F36-4569-A482-1771CBA952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3F17A7-2CD4-4A01-8DAD-1A2C216429C0}" type="slidenum">
              <a:rPr lang="en-US" smtClean="0"/>
              <a:t>‹#›</a:t>
            </a:fld>
            <a:endParaRPr lang="en-US"/>
          </a:p>
        </p:txBody>
      </p:sp>
    </p:spTree>
    <p:extLst>
      <p:ext uri="{BB962C8B-B14F-4D97-AF65-F5344CB8AC3E}">
        <p14:creationId xmlns:p14="http://schemas.microsoft.com/office/powerpoint/2010/main" val="3650693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6.jfif"/><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image" Target="../media/image9.jfif"/><Relationship Id="rId5" Type="http://schemas.openxmlformats.org/officeDocument/2006/relationships/diagramQuickStyle" Target="../diagrams/quickStyle1.xml"/><Relationship Id="rId10" Type="http://schemas.openxmlformats.org/officeDocument/2006/relationships/image" Target="../media/image8.jfif"/><Relationship Id="rId4" Type="http://schemas.openxmlformats.org/officeDocument/2006/relationships/diagramLayout" Target="../diagrams/layout1.xml"/><Relationship Id="rId9" Type="http://schemas.openxmlformats.org/officeDocument/2006/relationships/image" Target="../media/image7.jfif"/></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11DE2-416C-4C03-B3A6-BA2AE10AEE7F}"/>
              </a:ext>
            </a:extLst>
          </p:cNvPr>
          <p:cNvSpPr>
            <a:spLocks noGrp="1"/>
          </p:cNvSpPr>
          <p:nvPr>
            <p:ph type="ctrTitle"/>
          </p:nvPr>
        </p:nvSpPr>
        <p:spPr>
          <a:xfrm>
            <a:off x="1524000" y="2235200"/>
            <a:ext cx="8166101" cy="2387600"/>
          </a:xfrm>
        </p:spPr>
        <p:txBody>
          <a:bodyPr>
            <a:normAutofit fontScale="90000"/>
          </a:bodyPr>
          <a:lstStyle/>
          <a:p>
            <a:pPr algn="l">
              <a:lnSpc>
                <a:spcPct val="100000"/>
              </a:lnSpc>
            </a:pPr>
            <a:r>
              <a:rPr lang="en-US" spc="-150" dirty="0">
                <a:solidFill>
                  <a:schemeClr val="bg1"/>
                </a:solidFill>
                <a:latin typeface="Poppins" panose="00000500000000000000" pitchFamily="2" charset="0"/>
                <a:cs typeface="Poppins" panose="00000500000000000000" pitchFamily="2" charset="0"/>
              </a:rPr>
              <a:t>SAB Campus Monthly Progress – June 2025</a:t>
            </a:r>
            <a:br>
              <a:rPr lang="en-US" spc="-150" dirty="0">
                <a:solidFill>
                  <a:schemeClr val="bg1"/>
                </a:solidFill>
                <a:latin typeface="Poppins" panose="00000500000000000000" pitchFamily="2" charset="0"/>
                <a:cs typeface="Poppins" panose="00000500000000000000" pitchFamily="2" charset="0"/>
              </a:rPr>
            </a:br>
            <a:endParaRPr lang="en-US" spc="-150" dirty="0">
              <a:solidFill>
                <a:schemeClr val="bg1"/>
              </a:solidFill>
              <a:latin typeface="Poppins" panose="00000500000000000000" pitchFamily="2" charset="0"/>
              <a:cs typeface="Poppins" panose="00000500000000000000" pitchFamily="2" charset="0"/>
            </a:endParaRPr>
          </a:p>
        </p:txBody>
      </p:sp>
      <p:pic>
        <p:nvPicPr>
          <p:cNvPr id="4" name="Picture 3">
            <a:extLst>
              <a:ext uri="{FF2B5EF4-FFF2-40B4-BE49-F238E27FC236}">
                <a16:creationId xmlns:a16="http://schemas.microsoft.com/office/drawing/2014/main" id="{D6787EF5-F018-40D5-8545-F9698622D1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90101" y="0"/>
            <a:ext cx="2501899" cy="2501899"/>
          </a:xfrm>
          <a:prstGeom prst="rect">
            <a:avLst/>
          </a:prstGeom>
        </p:spPr>
      </p:pic>
    </p:spTree>
    <p:extLst>
      <p:ext uri="{BB962C8B-B14F-4D97-AF65-F5344CB8AC3E}">
        <p14:creationId xmlns:p14="http://schemas.microsoft.com/office/powerpoint/2010/main" val="3636905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A9D2A3A0-9B88-824A-B8EA-DD2E8D48B91B}"/>
              </a:ext>
            </a:extLst>
          </p:cNvPr>
          <p:cNvSpPr>
            <a:spLocks noGrp="1"/>
          </p:cNvSpPr>
          <p:nvPr>
            <p:ph idx="1"/>
          </p:nvPr>
        </p:nvSpPr>
        <p:spPr>
          <a:xfrm>
            <a:off x="838199" y="805070"/>
            <a:ext cx="7232375" cy="5371893"/>
          </a:xfrm>
          <a:noFill/>
        </p:spPr>
        <p:txBody>
          <a:bodyPr anchor="ctr">
            <a:normAutofit/>
          </a:bodyPr>
          <a:lstStyle/>
          <a:p>
            <a:r>
              <a:rPr lang="en-US" sz="4000" b="1" u="sng" dirty="0">
                <a:solidFill>
                  <a:schemeClr val="accent1">
                    <a:lumMod val="75000"/>
                  </a:schemeClr>
                </a:solidFill>
              </a:rPr>
              <a:t>Content</a:t>
            </a:r>
          </a:p>
          <a:p>
            <a:pPr marL="257175" indent="-257175">
              <a:buFont typeface="+mj-lt"/>
              <a:buAutoNum type="arabicPeriod"/>
            </a:pPr>
            <a:r>
              <a:rPr lang="en-US" sz="3600" b="1" dirty="0"/>
              <a:t>Academic Administrative Division</a:t>
            </a:r>
          </a:p>
          <a:p>
            <a:pPr marL="257175" indent="-257175">
              <a:buFont typeface="+mj-lt"/>
              <a:buAutoNum type="arabicPeriod"/>
            </a:pPr>
            <a:r>
              <a:rPr lang="en-US" sz="3600" b="1" dirty="0"/>
              <a:t>Marketing Division</a:t>
            </a:r>
          </a:p>
          <a:p>
            <a:pPr marL="257175" indent="-257175">
              <a:buFont typeface="+mj-lt"/>
              <a:buAutoNum type="arabicPeriod"/>
            </a:pPr>
            <a:r>
              <a:rPr lang="en-US" sz="3600" b="1" dirty="0"/>
              <a:t>Examinations Division</a:t>
            </a:r>
          </a:p>
          <a:p>
            <a:pPr marL="257175" indent="-257175">
              <a:buFont typeface="+mj-lt"/>
              <a:buAutoNum type="arabicPeriod"/>
            </a:pPr>
            <a:r>
              <a:rPr lang="en-US" sz="3600" b="1" dirty="0"/>
              <a:t>Finance Division</a:t>
            </a:r>
          </a:p>
          <a:p>
            <a:pPr marL="257175" indent="-257175">
              <a:buFont typeface="+mj-lt"/>
              <a:buAutoNum type="arabicPeriod"/>
            </a:pPr>
            <a:r>
              <a:rPr lang="en-US" sz="3600" b="1" dirty="0"/>
              <a:t>Campus Highlights</a:t>
            </a:r>
          </a:p>
        </p:txBody>
      </p:sp>
    </p:spTree>
    <p:extLst>
      <p:ext uri="{BB962C8B-B14F-4D97-AF65-F5344CB8AC3E}">
        <p14:creationId xmlns:p14="http://schemas.microsoft.com/office/powerpoint/2010/main" val="86324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479FA-4582-9754-5DAF-29FDE67619E9}"/>
              </a:ext>
            </a:extLst>
          </p:cNvPr>
          <p:cNvSpPr>
            <a:spLocks noGrp="1"/>
          </p:cNvSpPr>
          <p:nvPr>
            <p:ph type="title"/>
          </p:nvPr>
        </p:nvSpPr>
        <p:spPr>
          <a:xfrm>
            <a:off x="2107096" y="365125"/>
            <a:ext cx="7056782" cy="638727"/>
          </a:xfrm>
        </p:spPr>
        <p:txBody>
          <a:bodyPr>
            <a:noAutofit/>
          </a:bodyPr>
          <a:lstStyle/>
          <a:p>
            <a:r>
              <a:rPr lang="en-US" sz="3600" b="1" dirty="0"/>
              <a:t>Academic Administration Division</a:t>
            </a:r>
            <a:endParaRPr lang="en-US" sz="3600" dirty="0"/>
          </a:p>
        </p:txBody>
      </p:sp>
      <p:graphicFrame>
        <p:nvGraphicFramePr>
          <p:cNvPr id="7" name="Table 6">
            <a:extLst>
              <a:ext uri="{FF2B5EF4-FFF2-40B4-BE49-F238E27FC236}">
                <a16:creationId xmlns:a16="http://schemas.microsoft.com/office/drawing/2014/main" id="{6349E743-B638-0E03-819B-A9EDEC8A0452}"/>
              </a:ext>
            </a:extLst>
          </p:cNvPr>
          <p:cNvGraphicFramePr>
            <a:graphicFrameLocks noGrp="1"/>
          </p:cNvGraphicFramePr>
          <p:nvPr>
            <p:extLst>
              <p:ext uri="{D42A27DB-BD31-4B8C-83A1-F6EECF244321}">
                <p14:modId xmlns:p14="http://schemas.microsoft.com/office/powerpoint/2010/main" val="2099297700"/>
              </p:ext>
            </p:extLst>
          </p:nvPr>
        </p:nvGraphicFramePr>
        <p:xfrm>
          <a:off x="500269" y="1241240"/>
          <a:ext cx="5015948" cy="2394326"/>
        </p:xfrm>
        <a:graphic>
          <a:graphicData uri="http://schemas.openxmlformats.org/drawingml/2006/table">
            <a:tbl>
              <a:tblPr>
                <a:tableStyleId>{08FB837D-C827-4EFA-A057-4D05807E0F7C}</a:tableStyleId>
              </a:tblPr>
              <a:tblGrid>
                <a:gridCol w="1414401">
                  <a:extLst>
                    <a:ext uri="{9D8B030D-6E8A-4147-A177-3AD203B41FA5}">
                      <a16:colId xmlns:a16="http://schemas.microsoft.com/office/drawing/2014/main" val="2962752955"/>
                    </a:ext>
                  </a:extLst>
                </a:gridCol>
                <a:gridCol w="1112935">
                  <a:extLst>
                    <a:ext uri="{9D8B030D-6E8A-4147-A177-3AD203B41FA5}">
                      <a16:colId xmlns:a16="http://schemas.microsoft.com/office/drawing/2014/main" val="404938666"/>
                    </a:ext>
                  </a:extLst>
                </a:gridCol>
                <a:gridCol w="1253467">
                  <a:extLst>
                    <a:ext uri="{9D8B030D-6E8A-4147-A177-3AD203B41FA5}">
                      <a16:colId xmlns:a16="http://schemas.microsoft.com/office/drawing/2014/main" val="1612577430"/>
                    </a:ext>
                  </a:extLst>
                </a:gridCol>
                <a:gridCol w="1235145">
                  <a:extLst>
                    <a:ext uri="{9D8B030D-6E8A-4147-A177-3AD203B41FA5}">
                      <a16:colId xmlns:a16="http://schemas.microsoft.com/office/drawing/2014/main" val="3714978776"/>
                    </a:ext>
                  </a:extLst>
                </a:gridCol>
              </a:tblGrid>
              <a:tr h="690950">
                <a:tc>
                  <a:txBody>
                    <a:bodyPr/>
                    <a:lstStyle/>
                    <a:p>
                      <a:pPr algn="l" fontAlgn="b"/>
                      <a:r>
                        <a:rPr lang="en-US" sz="1600" u="none" strike="noStrike" dirty="0">
                          <a:solidFill>
                            <a:schemeClr val="tx1"/>
                          </a:solidFill>
                          <a:effectLst/>
                        </a:rPr>
                        <a:t> </a:t>
                      </a:r>
                      <a:endParaRPr lang="en-US" sz="1600" b="0" i="0" u="none" strike="noStrike" dirty="0">
                        <a:solidFill>
                          <a:schemeClr val="tx1"/>
                        </a:solidFill>
                        <a:effectLst/>
                        <a:latin typeface="Aptos Narrow" panose="020B0004020202020204" pitchFamily="34" charset="0"/>
                      </a:endParaRPr>
                    </a:p>
                  </a:txBody>
                  <a:tcPr marL="9525" marR="9525" marT="9525" marB="0" anchor="b"/>
                </a:tc>
                <a:tc>
                  <a:txBody>
                    <a:bodyPr/>
                    <a:lstStyle/>
                    <a:p>
                      <a:pPr algn="ctr" fontAlgn="b"/>
                      <a:r>
                        <a:rPr lang="en-US" sz="1600" b="1" i="0" u="none" strike="noStrike" dirty="0">
                          <a:solidFill>
                            <a:schemeClr val="tx1"/>
                          </a:solidFill>
                          <a:effectLst/>
                          <a:latin typeface="Aptos Narrow" panose="020B0004020202020204" pitchFamily="34" charset="0"/>
                        </a:rPr>
                        <a:t>April</a:t>
                      </a:r>
                    </a:p>
                  </a:txBody>
                  <a:tcPr marL="9525" marR="9525" marT="9525" marB="0" anchor="ctr"/>
                </a:tc>
                <a:tc>
                  <a:txBody>
                    <a:bodyPr/>
                    <a:lstStyle/>
                    <a:p>
                      <a:pPr algn="ctr" fontAlgn="b"/>
                      <a:r>
                        <a:rPr lang="en-US" sz="1600" b="1" i="0" u="none" strike="noStrike" dirty="0">
                          <a:solidFill>
                            <a:schemeClr val="tx1"/>
                          </a:solidFill>
                          <a:effectLst/>
                          <a:latin typeface="Aptos Narrow" panose="020B0004020202020204" pitchFamily="34" charset="0"/>
                        </a:rPr>
                        <a:t>May</a:t>
                      </a:r>
                    </a:p>
                  </a:txBody>
                  <a:tcPr marL="9525" marR="9525" marT="9525" marB="0" anchor="ctr"/>
                </a:tc>
                <a:tc>
                  <a:txBody>
                    <a:bodyPr/>
                    <a:lstStyle/>
                    <a:p>
                      <a:pPr algn="ctr" fontAlgn="b"/>
                      <a:r>
                        <a:rPr lang="en-US" sz="1600" b="1" i="0" u="none" strike="noStrike" dirty="0">
                          <a:solidFill>
                            <a:schemeClr val="tx1"/>
                          </a:solidFill>
                          <a:effectLst/>
                          <a:latin typeface="Aptos Narrow" panose="020B0004020202020204" pitchFamily="34" charset="0"/>
                        </a:rPr>
                        <a:t>June</a:t>
                      </a:r>
                    </a:p>
                  </a:txBody>
                  <a:tcPr marL="9525" marR="9525" marT="9525" marB="0" anchor="ctr"/>
                </a:tc>
                <a:extLst>
                  <a:ext uri="{0D108BD9-81ED-4DB2-BD59-A6C34878D82A}">
                    <a16:rowId xmlns:a16="http://schemas.microsoft.com/office/drawing/2014/main" val="1178438816"/>
                  </a:ext>
                </a:extLst>
              </a:tr>
              <a:tr h="851688">
                <a:tc>
                  <a:txBody>
                    <a:bodyPr/>
                    <a:lstStyle/>
                    <a:p>
                      <a:pPr algn="l" fontAlgn="b"/>
                      <a:r>
                        <a:rPr lang="en-US" sz="1600" b="1" u="none" strike="noStrike" dirty="0">
                          <a:solidFill>
                            <a:schemeClr val="tx1"/>
                          </a:solidFill>
                          <a:effectLst/>
                        </a:rPr>
                        <a:t>Lecture Reschedules</a:t>
                      </a:r>
                      <a:endParaRPr lang="en-US" sz="1600" b="1" i="0" u="none" strike="noStrike" dirty="0">
                        <a:solidFill>
                          <a:schemeClr val="tx1"/>
                        </a:solidFill>
                        <a:effectLst/>
                        <a:latin typeface="Aptos Narrow" panose="020B0004020202020204" pitchFamily="34" charset="0"/>
                      </a:endParaRPr>
                    </a:p>
                  </a:txBody>
                  <a:tcPr marL="9525" marR="9525" marT="9525" marB="0" anchor="ctr"/>
                </a:tc>
                <a:tc>
                  <a:txBody>
                    <a:bodyPr/>
                    <a:lstStyle/>
                    <a:p>
                      <a:pPr algn="ctr" fontAlgn="ctr"/>
                      <a:r>
                        <a:rPr lang="en-US" sz="1600" b="0" i="0" u="none" strike="noStrike" dirty="0">
                          <a:solidFill>
                            <a:schemeClr val="tx1"/>
                          </a:solidFill>
                          <a:effectLst/>
                          <a:latin typeface="Aptos Narrow" panose="020B0004020202020204" pitchFamily="34" charset="0"/>
                        </a:rPr>
                        <a:t>03</a:t>
                      </a:r>
                    </a:p>
                  </a:txBody>
                  <a:tcPr marL="9525" marR="9525" marT="9525" marB="0" anchor="ctr"/>
                </a:tc>
                <a:tc>
                  <a:txBody>
                    <a:bodyPr/>
                    <a:lstStyle/>
                    <a:p>
                      <a:pPr algn="ctr" fontAlgn="ctr"/>
                      <a:r>
                        <a:rPr lang="en-US" sz="1600" b="0" i="0" u="none" strike="noStrike" dirty="0">
                          <a:solidFill>
                            <a:schemeClr val="tx1"/>
                          </a:solidFill>
                          <a:effectLst/>
                          <a:latin typeface="Aptos Narrow" panose="020B0004020202020204" pitchFamily="34" charset="0"/>
                        </a:rPr>
                        <a:t>03</a:t>
                      </a:r>
                    </a:p>
                  </a:txBody>
                  <a:tcPr marL="9525" marR="9525" marT="9525" marB="0" anchor="ctr"/>
                </a:tc>
                <a:tc>
                  <a:txBody>
                    <a:bodyPr/>
                    <a:lstStyle/>
                    <a:p>
                      <a:pPr algn="ctr" fontAlgn="ctr"/>
                      <a:r>
                        <a:rPr lang="en-US" sz="1600" b="0" i="0" u="none" strike="noStrike" dirty="0">
                          <a:solidFill>
                            <a:schemeClr val="tx1"/>
                          </a:solidFill>
                          <a:effectLst/>
                          <a:latin typeface="Aptos Narrow" panose="020B0004020202020204" pitchFamily="34" charset="0"/>
                        </a:rPr>
                        <a:t>02</a:t>
                      </a:r>
                    </a:p>
                  </a:txBody>
                  <a:tcPr marL="9525" marR="9525" marT="9525" marB="0" anchor="ctr"/>
                </a:tc>
                <a:extLst>
                  <a:ext uri="{0D108BD9-81ED-4DB2-BD59-A6C34878D82A}">
                    <a16:rowId xmlns:a16="http://schemas.microsoft.com/office/drawing/2014/main" val="2889101481"/>
                  </a:ext>
                </a:extLst>
              </a:tr>
              <a:tr h="851688">
                <a:tc>
                  <a:txBody>
                    <a:bodyPr/>
                    <a:lstStyle/>
                    <a:p>
                      <a:pPr algn="l" fontAlgn="b"/>
                      <a:r>
                        <a:rPr lang="en-US" sz="1600" b="1" u="none" strike="noStrike" dirty="0">
                          <a:solidFill>
                            <a:schemeClr val="tx1"/>
                          </a:solidFill>
                          <a:effectLst/>
                        </a:rPr>
                        <a:t>Batch Transfers</a:t>
                      </a:r>
                      <a:endParaRPr lang="en-US" sz="1600" b="1" i="0" u="none" strike="noStrike" dirty="0">
                        <a:solidFill>
                          <a:schemeClr val="tx1"/>
                        </a:solidFill>
                        <a:effectLst/>
                        <a:latin typeface="Aptos Narrow" panose="020B0004020202020204" pitchFamily="34" charset="0"/>
                      </a:endParaRPr>
                    </a:p>
                  </a:txBody>
                  <a:tcPr marL="9525" marR="9525" marT="9525" marB="0" anchor="ctr"/>
                </a:tc>
                <a:tc>
                  <a:txBody>
                    <a:bodyPr/>
                    <a:lstStyle/>
                    <a:p>
                      <a:pPr algn="ctr" fontAlgn="ctr"/>
                      <a:r>
                        <a:rPr lang="en-US" sz="1600" b="0" i="0" u="none" strike="noStrike" dirty="0">
                          <a:solidFill>
                            <a:schemeClr val="tx1"/>
                          </a:solidFill>
                          <a:effectLst/>
                          <a:latin typeface="Aptos Narrow" panose="020B0004020202020204" pitchFamily="34" charset="0"/>
                        </a:rPr>
                        <a:t>9</a:t>
                      </a:r>
                    </a:p>
                  </a:txBody>
                  <a:tcPr marL="9525" marR="9525" marT="9525" marB="0" anchor="ctr"/>
                </a:tc>
                <a:tc>
                  <a:txBody>
                    <a:bodyPr/>
                    <a:lstStyle/>
                    <a:p>
                      <a:pPr algn="ctr" fontAlgn="ctr"/>
                      <a:r>
                        <a:rPr lang="en-US" sz="1600" b="0" i="0" u="none" strike="noStrike" dirty="0">
                          <a:solidFill>
                            <a:schemeClr val="tx1"/>
                          </a:solidFill>
                          <a:effectLst/>
                          <a:latin typeface="Aptos Narrow" panose="020B0004020202020204" pitchFamily="34" charset="0"/>
                        </a:rPr>
                        <a:t>8</a:t>
                      </a:r>
                    </a:p>
                  </a:txBody>
                  <a:tcPr marL="9525" marR="9525" marT="9525" marB="0" anchor="ctr"/>
                </a:tc>
                <a:tc>
                  <a:txBody>
                    <a:bodyPr/>
                    <a:lstStyle/>
                    <a:p>
                      <a:pPr algn="ctr" fontAlgn="ctr"/>
                      <a:r>
                        <a:rPr lang="en-US" sz="1600" b="0" i="0" u="none" strike="noStrike" dirty="0">
                          <a:solidFill>
                            <a:schemeClr val="tx1"/>
                          </a:solidFill>
                          <a:effectLst/>
                          <a:latin typeface="Aptos Narrow" panose="020B0004020202020204" pitchFamily="34" charset="0"/>
                        </a:rPr>
                        <a:t>02</a:t>
                      </a:r>
                    </a:p>
                  </a:txBody>
                  <a:tcPr marL="9525" marR="9525" marT="9525" marB="0" anchor="ctr"/>
                </a:tc>
                <a:extLst>
                  <a:ext uri="{0D108BD9-81ED-4DB2-BD59-A6C34878D82A}">
                    <a16:rowId xmlns:a16="http://schemas.microsoft.com/office/drawing/2014/main" val="1595071018"/>
                  </a:ext>
                </a:extLst>
              </a:tr>
            </a:tbl>
          </a:graphicData>
        </a:graphic>
      </p:graphicFrame>
      <p:graphicFrame>
        <p:nvGraphicFramePr>
          <p:cNvPr id="5" name="Chart 4">
            <a:extLst>
              <a:ext uri="{FF2B5EF4-FFF2-40B4-BE49-F238E27FC236}">
                <a16:creationId xmlns:a16="http://schemas.microsoft.com/office/drawing/2014/main" id="{8F50DA18-C5C5-F999-F68A-0F6BFFA17B1B}"/>
              </a:ext>
            </a:extLst>
          </p:cNvPr>
          <p:cNvGraphicFramePr>
            <a:graphicFrameLocks/>
          </p:cNvGraphicFramePr>
          <p:nvPr>
            <p:extLst>
              <p:ext uri="{D42A27DB-BD31-4B8C-83A1-F6EECF244321}">
                <p14:modId xmlns:p14="http://schemas.microsoft.com/office/powerpoint/2010/main" val="1064313925"/>
              </p:ext>
            </p:extLst>
          </p:nvPr>
        </p:nvGraphicFramePr>
        <p:xfrm>
          <a:off x="1133062" y="3856383"/>
          <a:ext cx="9939130" cy="263649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Table 2">
            <a:extLst>
              <a:ext uri="{FF2B5EF4-FFF2-40B4-BE49-F238E27FC236}">
                <a16:creationId xmlns:a16="http://schemas.microsoft.com/office/drawing/2014/main" id="{63FF74A9-2168-F9E3-543D-8827781BA619}"/>
              </a:ext>
            </a:extLst>
          </p:cNvPr>
          <p:cNvGraphicFramePr>
            <a:graphicFrameLocks noGrp="1"/>
          </p:cNvGraphicFramePr>
          <p:nvPr>
            <p:extLst>
              <p:ext uri="{D42A27DB-BD31-4B8C-83A1-F6EECF244321}">
                <p14:modId xmlns:p14="http://schemas.microsoft.com/office/powerpoint/2010/main" val="4162500551"/>
              </p:ext>
            </p:extLst>
          </p:nvPr>
        </p:nvGraphicFramePr>
        <p:xfrm>
          <a:off x="6213667" y="1125192"/>
          <a:ext cx="5207000" cy="2510375"/>
        </p:xfrm>
        <a:graphic>
          <a:graphicData uri="http://schemas.openxmlformats.org/drawingml/2006/table">
            <a:tbl>
              <a:tblPr>
                <a:tableStyleId>{22838BEF-8BB2-4498-84A7-C5851F593DF1}</a:tableStyleId>
              </a:tblPr>
              <a:tblGrid>
                <a:gridCol w="1066800">
                  <a:extLst>
                    <a:ext uri="{9D8B030D-6E8A-4147-A177-3AD203B41FA5}">
                      <a16:colId xmlns:a16="http://schemas.microsoft.com/office/drawing/2014/main" val="2763335951"/>
                    </a:ext>
                  </a:extLst>
                </a:gridCol>
                <a:gridCol w="749300">
                  <a:extLst>
                    <a:ext uri="{9D8B030D-6E8A-4147-A177-3AD203B41FA5}">
                      <a16:colId xmlns:a16="http://schemas.microsoft.com/office/drawing/2014/main" val="950829906"/>
                    </a:ext>
                  </a:extLst>
                </a:gridCol>
                <a:gridCol w="2781300">
                  <a:extLst>
                    <a:ext uri="{9D8B030D-6E8A-4147-A177-3AD203B41FA5}">
                      <a16:colId xmlns:a16="http://schemas.microsoft.com/office/drawing/2014/main" val="1297487764"/>
                    </a:ext>
                  </a:extLst>
                </a:gridCol>
                <a:gridCol w="609600">
                  <a:extLst>
                    <a:ext uri="{9D8B030D-6E8A-4147-A177-3AD203B41FA5}">
                      <a16:colId xmlns:a16="http://schemas.microsoft.com/office/drawing/2014/main" val="3557460928"/>
                    </a:ext>
                  </a:extLst>
                </a:gridCol>
              </a:tblGrid>
              <a:tr h="189347">
                <a:tc>
                  <a:txBody>
                    <a:bodyPr/>
                    <a:lstStyle/>
                    <a:p>
                      <a:pPr algn="l" fontAlgn="ctr"/>
                      <a:r>
                        <a:rPr lang="en-US" sz="800" u="none" strike="noStrike" dirty="0">
                          <a:effectLst/>
                        </a:rPr>
                        <a:t> </a:t>
                      </a:r>
                      <a:endParaRPr lang="en-US" sz="800" b="0" i="0" u="none" strike="noStrike" dirty="0">
                        <a:solidFill>
                          <a:srgbClr val="242424"/>
                        </a:solidFill>
                        <a:effectLst/>
                        <a:latin typeface="Segoe UI" panose="020B0502040204020203" pitchFamily="34" charset="0"/>
                      </a:endParaRPr>
                    </a:p>
                  </a:txBody>
                  <a:tcPr marL="6350" marR="6350" marT="6350" marB="0" anchor="ctr"/>
                </a:tc>
                <a:tc>
                  <a:txBody>
                    <a:bodyPr/>
                    <a:lstStyle/>
                    <a:p>
                      <a:pPr algn="ctr" fontAlgn="ctr">
                        <a:buNone/>
                      </a:pPr>
                      <a:r>
                        <a:rPr lang="en-US" sz="1200" b="1" u="none" strike="noStrike" dirty="0">
                          <a:effectLst/>
                        </a:rPr>
                        <a:t>Date</a:t>
                      </a:r>
                      <a:endParaRPr lang="en-US" sz="1200" b="1" i="0" u="none" strike="noStrike" dirty="0">
                        <a:solidFill>
                          <a:srgbClr val="000000"/>
                        </a:solidFill>
                        <a:effectLst/>
                        <a:latin typeface="Inherit"/>
                      </a:endParaRPr>
                    </a:p>
                  </a:txBody>
                  <a:tcPr marL="6350" marR="6350" marT="6350" marB="0" anchor="ctr"/>
                </a:tc>
                <a:tc>
                  <a:txBody>
                    <a:bodyPr/>
                    <a:lstStyle/>
                    <a:p>
                      <a:pPr algn="ctr" fontAlgn="ctr">
                        <a:buNone/>
                      </a:pPr>
                      <a:r>
                        <a:rPr lang="en-US" sz="1200" b="1" u="none" strike="noStrike" dirty="0">
                          <a:effectLst/>
                        </a:rPr>
                        <a:t>Batch</a:t>
                      </a:r>
                      <a:endParaRPr lang="en-US" sz="1200" b="1" i="0" u="none" strike="noStrike" dirty="0">
                        <a:solidFill>
                          <a:srgbClr val="000000"/>
                        </a:solidFill>
                        <a:effectLst/>
                        <a:latin typeface="Inherit"/>
                      </a:endParaRPr>
                    </a:p>
                  </a:txBody>
                  <a:tcPr marL="6350" marR="6350" marT="6350" marB="0" anchor="ctr"/>
                </a:tc>
                <a:tc>
                  <a:txBody>
                    <a:bodyPr/>
                    <a:lstStyle/>
                    <a:p>
                      <a:pPr algn="ctr" fontAlgn="ctr">
                        <a:buNone/>
                      </a:pPr>
                      <a:r>
                        <a:rPr lang="en-US" sz="1200" b="1" u="none" strike="noStrike" dirty="0">
                          <a:effectLst/>
                        </a:rPr>
                        <a:t>Y:S</a:t>
                      </a:r>
                      <a:endParaRPr lang="en-US" sz="1200" b="1" i="0" u="none" strike="noStrike" dirty="0">
                        <a:solidFill>
                          <a:srgbClr val="000000"/>
                        </a:solidFill>
                        <a:effectLst/>
                        <a:latin typeface="Inherit"/>
                      </a:endParaRPr>
                    </a:p>
                  </a:txBody>
                  <a:tcPr marL="6350" marR="6350" marT="6350" marB="0" anchor="ctr"/>
                </a:tc>
                <a:extLst>
                  <a:ext uri="{0D108BD9-81ED-4DB2-BD59-A6C34878D82A}">
                    <a16:rowId xmlns:a16="http://schemas.microsoft.com/office/drawing/2014/main" val="2490138748"/>
                  </a:ext>
                </a:extLst>
              </a:tr>
              <a:tr h="354262">
                <a:tc rowSpan="5">
                  <a:txBody>
                    <a:bodyPr/>
                    <a:lstStyle/>
                    <a:p>
                      <a:pPr algn="ctr" fontAlgn="ctr">
                        <a:buNone/>
                      </a:pPr>
                      <a:r>
                        <a:rPr lang="en-US" sz="1000" b="1" u="none" strike="noStrike" dirty="0">
                          <a:effectLst/>
                        </a:rPr>
                        <a:t>New Semester commencement</a:t>
                      </a:r>
                      <a:endParaRPr lang="en-US" sz="1000" b="1" i="0" u="none" strike="noStrike" dirty="0">
                        <a:solidFill>
                          <a:srgbClr val="000000"/>
                        </a:solidFill>
                        <a:effectLst/>
                        <a:latin typeface="Inherit"/>
                      </a:endParaRPr>
                    </a:p>
                  </a:txBody>
                  <a:tcPr marL="6350" marR="6350" marT="6350" marB="0" anchor="ctr">
                    <a:solidFill>
                      <a:schemeClr val="accent5">
                        <a:lumMod val="20000"/>
                        <a:lumOff val="80000"/>
                      </a:schemeClr>
                    </a:solidFill>
                  </a:tcPr>
                </a:tc>
                <a:tc>
                  <a:txBody>
                    <a:bodyPr/>
                    <a:lstStyle/>
                    <a:p>
                      <a:pPr algn="ctr" fontAlgn="ctr">
                        <a:buNone/>
                      </a:pPr>
                      <a:r>
                        <a:rPr lang="en-US" sz="1200" u="none" strike="noStrike" dirty="0">
                          <a:effectLst/>
                        </a:rPr>
                        <a:t>6/7/2025</a:t>
                      </a:r>
                      <a:endParaRPr lang="en-US" sz="1200" b="0" i="0" u="none" strike="noStrike" dirty="0">
                        <a:solidFill>
                          <a:srgbClr val="000000"/>
                        </a:solidFill>
                        <a:effectLst/>
                        <a:latin typeface="Aptos" panose="020B0004020202020204" pitchFamily="34" charset="0"/>
                      </a:endParaRPr>
                    </a:p>
                  </a:txBody>
                  <a:tcPr marL="6350" marR="6350" marT="6350" marB="0" anchor="ctr">
                    <a:solidFill>
                      <a:schemeClr val="accent5">
                        <a:lumMod val="20000"/>
                        <a:lumOff val="80000"/>
                      </a:schemeClr>
                    </a:solidFill>
                  </a:tcPr>
                </a:tc>
                <a:tc>
                  <a:txBody>
                    <a:bodyPr/>
                    <a:lstStyle/>
                    <a:p>
                      <a:pPr algn="l" fontAlgn="ctr">
                        <a:buNone/>
                      </a:pPr>
                      <a:r>
                        <a:rPr lang="en-US" sz="1200" u="none" strike="noStrike" dirty="0">
                          <a:effectLst/>
                        </a:rPr>
                        <a:t>16D WE/18A EX</a:t>
                      </a:r>
                      <a:endParaRPr lang="en-US" sz="1200" b="0" i="0" u="none" strike="noStrike" dirty="0">
                        <a:solidFill>
                          <a:srgbClr val="000000"/>
                        </a:solidFill>
                        <a:effectLst/>
                        <a:latin typeface="Aptos" panose="020B0004020202020204" pitchFamily="34" charset="0"/>
                      </a:endParaRPr>
                    </a:p>
                  </a:txBody>
                  <a:tcPr marL="6350" marR="6350" marT="6350" marB="0" anchor="ctr">
                    <a:solidFill>
                      <a:schemeClr val="accent5">
                        <a:lumMod val="20000"/>
                        <a:lumOff val="80000"/>
                      </a:schemeClr>
                    </a:solidFill>
                  </a:tcPr>
                </a:tc>
                <a:tc>
                  <a:txBody>
                    <a:bodyPr/>
                    <a:lstStyle/>
                    <a:p>
                      <a:pPr algn="ctr" fontAlgn="ctr">
                        <a:buNone/>
                      </a:pPr>
                      <a:r>
                        <a:rPr lang="en-US" sz="1200" u="none" strike="noStrike" dirty="0">
                          <a:effectLst/>
                        </a:rPr>
                        <a:t>Y3 S2</a:t>
                      </a:r>
                      <a:endParaRPr lang="en-US" sz="1200" b="0" i="0" u="none" strike="noStrike" dirty="0">
                        <a:solidFill>
                          <a:srgbClr val="000000"/>
                        </a:solidFill>
                        <a:effectLst/>
                        <a:latin typeface="Aptos" panose="020B0004020202020204" pitchFamily="34" charset="0"/>
                      </a:endParaRPr>
                    </a:p>
                  </a:txBody>
                  <a:tcPr marL="6350" marR="6350" marT="6350" marB="0" anchor="ctr">
                    <a:solidFill>
                      <a:schemeClr val="accent5">
                        <a:lumMod val="20000"/>
                        <a:lumOff val="80000"/>
                      </a:schemeClr>
                    </a:solidFill>
                  </a:tcPr>
                </a:tc>
                <a:extLst>
                  <a:ext uri="{0D108BD9-81ED-4DB2-BD59-A6C34878D82A}">
                    <a16:rowId xmlns:a16="http://schemas.microsoft.com/office/drawing/2014/main" val="3333159632"/>
                  </a:ext>
                </a:extLst>
              </a:tr>
              <a:tr h="195455">
                <a:tc vMerge="1">
                  <a:txBody>
                    <a:bodyPr/>
                    <a:lstStyle/>
                    <a:p>
                      <a:endParaRPr lang="en-US"/>
                    </a:p>
                  </a:txBody>
                  <a:tcPr/>
                </a:tc>
                <a:tc>
                  <a:txBody>
                    <a:bodyPr/>
                    <a:lstStyle/>
                    <a:p>
                      <a:pPr algn="ctr" fontAlgn="ctr">
                        <a:buNone/>
                      </a:pPr>
                      <a:r>
                        <a:rPr lang="en-US" sz="1200" u="none" strike="noStrike" dirty="0">
                          <a:effectLst/>
                        </a:rPr>
                        <a:t>6/8/2025</a:t>
                      </a:r>
                      <a:endParaRPr lang="en-US" sz="1200" b="0" i="0" u="none" strike="noStrike" dirty="0">
                        <a:solidFill>
                          <a:srgbClr val="000000"/>
                        </a:solidFill>
                        <a:effectLst/>
                        <a:latin typeface="Aptos" panose="020B0004020202020204" pitchFamily="34" charset="0"/>
                      </a:endParaRPr>
                    </a:p>
                  </a:txBody>
                  <a:tcPr marL="6350" marR="6350" marT="6350" marB="0" anchor="ctr">
                    <a:solidFill>
                      <a:schemeClr val="accent5">
                        <a:lumMod val="20000"/>
                        <a:lumOff val="80000"/>
                      </a:schemeClr>
                    </a:solidFill>
                  </a:tcPr>
                </a:tc>
                <a:tc>
                  <a:txBody>
                    <a:bodyPr/>
                    <a:lstStyle/>
                    <a:p>
                      <a:pPr algn="l" fontAlgn="ctr">
                        <a:buNone/>
                      </a:pPr>
                      <a:r>
                        <a:rPr lang="en-US" sz="1200" u="none" strike="noStrike" dirty="0">
                          <a:effectLst/>
                        </a:rPr>
                        <a:t>16A MOHE WD, 16B WD/WE and 15D WE</a:t>
                      </a:r>
                      <a:endParaRPr lang="en-US" sz="1200" b="0" i="0" u="none" strike="noStrike" dirty="0">
                        <a:solidFill>
                          <a:srgbClr val="000000"/>
                        </a:solidFill>
                        <a:effectLst/>
                        <a:latin typeface="Aptos" panose="020B0004020202020204" pitchFamily="34" charset="0"/>
                      </a:endParaRPr>
                    </a:p>
                  </a:txBody>
                  <a:tcPr marL="6350" marR="6350" marT="6350" marB="0" anchor="ctr">
                    <a:solidFill>
                      <a:schemeClr val="accent5">
                        <a:lumMod val="20000"/>
                        <a:lumOff val="80000"/>
                      </a:schemeClr>
                    </a:solidFill>
                  </a:tcPr>
                </a:tc>
                <a:tc>
                  <a:txBody>
                    <a:bodyPr/>
                    <a:lstStyle/>
                    <a:p>
                      <a:pPr algn="ctr" fontAlgn="ctr">
                        <a:buNone/>
                      </a:pPr>
                      <a:r>
                        <a:rPr lang="en-US" sz="1200" u="none" strike="noStrike">
                          <a:effectLst/>
                        </a:rPr>
                        <a:t>Y4 S1</a:t>
                      </a:r>
                      <a:endParaRPr lang="en-US" sz="1200" b="0" i="0" u="none" strike="noStrike">
                        <a:solidFill>
                          <a:srgbClr val="000000"/>
                        </a:solidFill>
                        <a:effectLst/>
                        <a:latin typeface="Aptos" panose="020B0004020202020204" pitchFamily="34" charset="0"/>
                      </a:endParaRPr>
                    </a:p>
                  </a:txBody>
                  <a:tcPr marL="6350" marR="6350" marT="6350" marB="0" anchor="ctr">
                    <a:solidFill>
                      <a:schemeClr val="accent5">
                        <a:lumMod val="20000"/>
                        <a:lumOff val="80000"/>
                      </a:schemeClr>
                    </a:solidFill>
                  </a:tcPr>
                </a:tc>
                <a:extLst>
                  <a:ext uri="{0D108BD9-81ED-4DB2-BD59-A6C34878D82A}">
                    <a16:rowId xmlns:a16="http://schemas.microsoft.com/office/drawing/2014/main" val="2619751681"/>
                  </a:ext>
                </a:extLst>
              </a:tr>
              <a:tr h="195455">
                <a:tc vMerge="1">
                  <a:txBody>
                    <a:bodyPr/>
                    <a:lstStyle/>
                    <a:p>
                      <a:endParaRPr lang="en-US"/>
                    </a:p>
                  </a:txBody>
                  <a:tcPr/>
                </a:tc>
                <a:tc>
                  <a:txBody>
                    <a:bodyPr/>
                    <a:lstStyle/>
                    <a:p>
                      <a:pPr algn="ctr" fontAlgn="ctr">
                        <a:buNone/>
                      </a:pPr>
                      <a:r>
                        <a:rPr lang="en-US" sz="1200" u="none" strike="noStrike" dirty="0">
                          <a:effectLst/>
                        </a:rPr>
                        <a:t>6/7/2025</a:t>
                      </a:r>
                      <a:endParaRPr lang="en-US" sz="1200" b="0" i="0" u="none" strike="noStrike" dirty="0">
                        <a:solidFill>
                          <a:srgbClr val="000000"/>
                        </a:solidFill>
                        <a:effectLst/>
                        <a:latin typeface="Aptos" panose="020B0004020202020204" pitchFamily="34" charset="0"/>
                      </a:endParaRPr>
                    </a:p>
                  </a:txBody>
                  <a:tcPr marL="6350" marR="6350" marT="6350" marB="0" anchor="ctr">
                    <a:solidFill>
                      <a:schemeClr val="accent5">
                        <a:lumMod val="20000"/>
                        <a:lumOff val="80000"/>
                      </a:schemeClr>
                    </a:solidFill>
                  </a:tcPr>
                </a:tc>
                <a:tc>
                  <a:txBody>
                    <a:bodyPr/>
                    <a:lstStyle/>
                    <a:p>
                      <a:pPr algn="l" fontAlgn="ctr">
                        <a:buNone/>
                      </a:pPr>
                      <a:r>
                        <a:rPr lang="en-US" sz="1200" u="none" strike="noStrike" dirty="0">
                          <a:effectLst/>
                        </a:rPr>
                        <a:t>1A WE (BMBA)</a:t>
                      </a:r>
                      <a:endParaRPr lang="en-US" sz="1200" b="0" i="0" u="none" strike="noStrike" dirty="0">
                        <a:solidFill>
                          <a:srgbClr val="000000"/>
                        </a:solidFill>
                        <a:effectLst/>
                        <a:latin typeface="Aptos" panose="020B0004020202020204" pitchFamily="34" charset="0"/>
                      </a:endParaRPr>
                    </a:p>
                  </a:txBody>
                  <a:tcPr marL="6350" marR="6350" marT="6350" marB="0" anchor="ctr">
                    <a:solidFill>
                      <a:schemeClr val="accent5">
                        <a:lumMod val="20000"/>
                        <a:lumOff val="80000"/>
                      </a:schemeClr>
                    </a:solidFill>
                  </a:tcPr>
                </a:tc>
                <a:tc>
                  <a:txBody>
                    <a:bodyPr/>
                    <a:lstStyle/>
                    <a:p>
                      <a:pPr algn="ctr" fontAlgn="ctr">
                        <a:buNone/>
                      </a:pPr>
                      <a:r>
                        <a:rPr lang="en-US" sz="1200" u="none" strike="noStrike">
                          <a:effectLst/>
                        </a:rPr>
                        <a:t>Y2 S2</a:t>
                      </a:r>
                      <a:endParaRPr lang="en-US" sz="1200" b="0" i="0" u="none" strike="noStrike">
                        <a:solidFill>
                          <a:srgbClr val="000000"/>
                        </a:solidFill>
                        <a:effectLst/>
                        <a:latin typeface="Aptos" panose="020B0004020202020204" pitchFamily="34" charset="0"/>
                      </a:endParaRPr>
                    </a:p>
                  </a:txBody>
                  <a:tcPr marL="6350" marR="6350" marT="6350" marB="0" anchor="ctr">
                    <a:solidFill>
                      <a:schemeClr val="accent5">
                        <a:lumMod val="20000"/>
                        <a:lumOff val="80000"/>
                      </a:schemeClr>
                    </a:solidFill>
                  </a:tcPr>
                </a:tc>
                <a:extLst>
                  <a:ext uri="{0D108BD9-81ED-4DB2-BD59-A6C34878D82A}">
                    <a16:rowId xmlns:a16="http://schemas.microsoft.com/office/drawing/2014/main" val="365023239"/>
                  </a:ext>
                </a:extLst>
              </a:tr>
              <a:tr h="195455">
                <a:tc vMerge="1">
                  <a:txBody>
                    <a:bodyPr/>
                    <a:lstStyle/>
                    <a:p>
                      <a:endParaRPr lang="en-US"/>
                    </a:p>
                  </a:txBody>
                  <a:tcPr/>
                </a:tc>
                <a:tc>
                  <a:txBody>
                    <a:bodyPr/>
                    <a:lstStyle/>
                    <a:p>
                      <a:pPr algn="ctr" fontAlgn="ctr">
                        <a:buNone/>
                      </a:pPr>
                      <a:r>
                        <a:rPr lang="en-US" sz="1200" u="none" strike="noStrike" dirty="0">
                          <a:effectLst/>
                        </a:rPr>
                        <a:t>6/17/2025</a:t>
                      </a:r>
                      <a:endParaRPr lang="en-US" sz="1200" b="0" i="0" u="none" strike="noStrike" dirty="0">
                        <a:solidFill>
                          <a:srgbClr val="000000"/>
                        </a:solidFill>
                        <a:effectLst/>
                        <a:latin typeface="Aptos" panose="020B0004020202020204" pitchFamily="34" charset="0"/>
                      </a:endParaRPr>
                    </a:p>
                  </a:txBody>
                  <a:tcPr marL="6350" marR="6350" marT="6350" marB="0" anchor="ctr">
                    <a:solidFill>
                      <a:schemeClr val="accent5">
                        <a:lumMod val="20000"/>
                        <a:lumOff val="80000"/>
                      </a:schemeClr>
                    </a:solidFill>
                  </a:tcPr>
                </a:tc>
                <a:tc>
                  <a:txBody>
                    <a:bodyPr/>
                    <a:lstStyle/>
                    <a:p>
                      <a:pPr algn="l" fontAlgn="ctr">
                        <a:buNone/>
                      </a:pPr>
                      <a:r>
                        <a:rPr lang="en-US" sz="1200" u="none" strike="noStrike" dirty="0">
                          <a:effectLst/>
                        </a:rPr>
                        <a:t>18B WD</a:t>
                      </a:r>
                      <a:endParaRPr lang="en-US" sz="1200" b="0" i="0" u="none" strike="noStrike" dirty="0">
                        <a:solidFill>
                          <a:srgbClr val="000000"/>
                        </a:solidFill>
                        <a:effectLst/>
                        <a:latin typeface="Aptos" panose="020B0004020202020204" pitchFamily="34" charset="0"/>
                      </a:endParaRPr>
                    </a:p>
                  </a:txBody>
                  <a:tcPr marL="6350" marR="6350" marT="6350" marB="0" anchor="ctr">
                    <a:solidFill>
                      <a:schemeClr val="accent5">
                        <a:lumMod val="20000"/>
                        <a:lumOff val="80000"/>
                      </a:schemeClr>
                    </a:solidFill>
                  </a:tcPr>
                </a:tc>
                <a:tc>
                  <a:txBody>
                    <a:bodyPr/>
                    <a:lstStyle/>
                    <a:p>
                      <a:pPr algn="ctr" fontAlgn="ctr">
                        <a:buNone/>
                      </a:pPr>
                      <a:r>
                        <a:rPr lang="en-US" sz="1200" u="none" strike="noStrike" dirty="0">
                          <a:effectLst/>
                        </a:rPr>
                        <a:t>Y2 S1</a:t>
                      </a:r>
                      <a:endParaRPr lang="en-US" sz="1200" b="0" i="0" u="none" strike="noStrike" dirty="0">
                        <a:solidFill>
                          <a:srgbClr val="000000"/>
                        </a:solidFill>
                        <a:effectLst/>
                        <a:latin typeface="Aptos" panose="020B0004020202020204" pitchFamily="34" charset="0"/>
                      </a:endParaRPr>
                    </a:p>
                  </a:txBody>
                  <a:tcPr marL="6350" marR="6350" marT="6350" marB="0" anchor="ctr">
                    <a:solidFill>
                      <a:schemeClr val="accent5">
                        <a:lumMod val="20000"/>
                        <a:lumOff val="80000"/>
                      </a:schemeClr>
                    </a:solidFill>
                  </a:tcPr>
                </a:tc>
                <a:extLst>
                  <a:ext uri="{0D108BD9-81ED-4DB2-BD59-A6C34878D82A}">
                    <a16:rowId xmlns:a16="http://schemas.microsoft.com/office/drawing/2014/main" val="1918330801"/>
                  </a:ext>
                </a:extLst>
              </a:tr>
              <a:tr h="201563">
                <a:tc vMerge="1">
                  <a:txBody>
                    <a:bodyPr/>
                    <a:lstStyle/>
                    <a:p>
                      <a:endParaRPr lang="en-US"/>
                    </a:p>
                  </a:txBody>
                  <a:tcPr/>
                </a:tc>
                <a:tc>
                  <a:txBody>
                    <a:bodyPr/>
                    <a:lstStyle/>
                    <a:p>
                      <a:pPr algn="ctr" fontAlgn="ctr">
                        <a:buNone/>
                      </a:pPr>
                      <a:r>
                        <a:rPr lang="en-US" sz="1200" u="none" strike="noStrike">
                          <a:effectLst/>
                        </a:rPr>
                        <a:t>6/18/2025</a:t>
                      </a:r>
                      <a:endParaRPr lang="en-US" sz="1200" b="0" i="0" u="none" strike="noStrike">
                        <a:solidFill>
                          <a:srgbClr val="000000"/>
                        </a:solidFill>
                        <a:effectLst/>
                        <a:latin typeface="Aptos" panose="020B0004020202020204" pitchFamily="34" charset="0"/>
                      </a:endParaRPr>
                    </a:p>
                  </a:txBody>
                  <a:tcPr marL="6350" marR="6350" marT="6350" marB="0" anchor="ctr">
                    <a:solidFill>
                      <a:schemeClr val="accent5">
                        <a:lumMod val="20000"/>
                        <a:lumOff val="80000"/>
                      </a:schemeClr>
                    </a:solidFill>
                  </a:tcPr>
                </a:tc>
                <a:tc>
                  <a:txBody>
                    <a:bodyPr/>
                    <a:lstStyle/>
                    <a:p>
                      <a:pPr algn="l" fontAlgn="ctr">
                        <a:buNone/>
                      </a:pPr>
                      <a:r>
                        <a:rPr lang="en-US" sz="1200" u="none" strike="noStrike" dirty="0">
                          <a:effectLst/>
                        </a:rPr>
                        <a:t>2B WD (BMBA)</a:t>
                      </a:r>
                      <a:endParaRPr lang="en-US" sz="1200" b="0" i="0" u="none" strike="noStrike" dirty="0">
                        <a:solidFill>
                          <a:srgbClr val="000000"/>
                        </a:solidFill>
                        <a:effectLst/>
                        <a:latin typeface="Aptos" panose="020B0004020202020204" pitchFamily="34" charset="0"/>
                      </a:endParaRPr>
                    </a:p>
                  </a:txBody>
                  <a:tcPr marL="6350" marR="6350" marT="6350" marB="0" anchor="ctr">
                    <a:solidFill>
                      <a:schemeClr val="accent5">
                        <a:lumMod val="20000"/>
                        <a:lumOff val="80000"/>
                      </a:schemeClr>
                    </a:solidFill>
                  </a:tcPr>
                </a:tc>
                <a:tc>
                  <a:txBody>
                    <a:bodyPr/>
                    <a:lstStyle/>
                    <a:p>
                      <a:pPr algn="ctr" fontAlgn="ctr">
                        <a:buNone/>
                      </a:pPr>
                      <a:r>
                        <a:rPr lang="en-US" sz="1200" u="none" strike="noStrike" dirty="0">
                          <a:effectLst/>
                        </a:rPr>
                        <a:t>Y2 S1</a:t>
                      </a:r>
                      <a:endParaRPr lang="en-US" sz="1200" b="0" i="0" u="none" strike="noStrike" dirty="0">
                        <a:solidFill>
                          <a:srgbClr val="000000"/>
                        </a:solidFill>
                        <a:effectLst/>
                        <a:latin typeface="Aptos" panose="020B0004020202020204" pitchFamily="34" charset="0"/>
                      </a:endParaRPr>
                    </a:p>
                  </a:txBody>
                  <a:tcPr marL="6350" marR="6350" marT="6350" marB="0" anchor="ctr">
                    <a:solidFill>
                      <a:schemeClr val="accent5">
                        <a:lumMod val="20000"/>
                        <a:lumOff val="80000"/>
                      </a:schemeClr>
                    </a:solidFill>
                  </a:tcPr>
                </a:tc>
                <a:extLst>
                  <a:ext uri="{0D108BD9-81ED-4DB2-BD59-A6C34878D82A}">
                    <a16:rowId xmlns:a16="http://schemas.microsoft.com/office/drawing/2014/main" val="575604082"/>
                  </a:ext>
                </a:extLst>
              </a:tr>
              <a:tr h="195455">
                <a:tc rowSpan="6">
                  <a:txBody>
                    <a:bodyPr/>
                    <a:lstStyle/>
                    <a:p>
                      <a:pPr algn="ctr" fontAlgn="ctr">
                        <a:buNone/>
                      </a:pPr>
                      <a:r>
                        <a:rPr lang="en-US" sz="1000" b="1" u="none" strike="noStrike" dirty="0">
                          <a:effectLst/>
                        </a:rPr>
                        <a:t>End Semester </a:t>
                      </a:r>
                      <a:endParaRPr lang="en-US" sz="1000" b="1" i="0" u="none" strike="noStrike" dirty="0">
                        <a:solidFill>
                          <a:srgbClr val="000000"/>
                        </a:solidFill>
                        <a:effectLst/>
                        <a:latin typeface="Inherit"/>
                      </a:endParaRPr>
                    </a:p>
                  </a:txBody>
                  <a:tcPr marL="6350" marR="6350" marT="6350" marB="0" anchor="ctr">
                    <a:solidFill>
                      <a:schemeClr val="accent6">
                        <a:lumMod val="20000"/>
                        <a:lumOff val="80000"/>
                      </a:schemeClr>
                    </a:solidFill>
                  </a:tcPr>
                </a:tc>
                <a:tc>
                  <a:txBody>
                    <a:bodyPr/>
                    <a:lstStyle/>
                    <a:p>
                      <a:pPr algn="ctr" fontAlgn="ctr">
                        <a:buNone/>
                      </a:pPr>
                      <a:r>
                        <a:rPr lang="en-US" sz="1200" u="none" strike="noStrike" dirty="0">
                          <a:effectLst/>
                        </a:rPr>
                        <a:t>6/1/2025</a:t>
                      </a:r>
                      <a:endParaRPr lang="en-US" sz="1200" b="0" i="0" u="none" strike="noStrike" dirty="0">
                        <a:solidFill>
                          <a:srgbClr val="000000"/>
                        </a:solidFill>
                        <a:effectLst/>
                        <a:latin typeface="Aptos" panose="020B0004020202020204" pitchFamily="34" charset="0"/>
                      </a:endParaRPr>
                    </a:p>
                  </a:txBody>
                  <a:tcPr marL="6350" marR="6350" marT="6350" marB="0" anchor="ctr">
                    <a:solidFill>
                      <a:schemeClr val="accent6">
                        <a:lumMod val="20000"/>
                        <a:lumOff val="80000"/>
                      </a:schemeClr>
                    </a:solidFill>
                  </a:tcPr>
                </a:tc>
                <a:tc>
                  <a:txBody>
                    <a:bodyPr/>
                    <a:lstStyle/>
                    <a:p>
                      <a:pPr algn="l" fontAlgn="ctr">
                        <a:buNone/>
                      </a:pPr>
                      <a:r>
                        <a:rPr lang="en-US" sz="1200" u="none" strike="noStrike" dirty="0">
                          <a:effectLst/>
                        </a:rPr>
                        <a:t>18B WE</a:t>
                      </a:r>
                      <a:endParaRPr lang="en-US" sz="1200" b="0" i="0" u="none" strike="noStrike" dirty="0">
                        <a:solidFill>
                          <a:srgbClr val="000000"/>
                        </a:solidFill>
                        <a:effectLst/>
                        <a:latin typeface="Aptos" panose="020B0004020202020204" pitchFamily="34" charset="0"/>
                      </a:endParaRPr>
                    </a:p>
                  </a:txBody>
                  <a:tcPr marL="6350" marR="6350" marT="6350" marB="0" anchor="ctr">
                    <a:solidFill>
                      <a:schemeClr val="accent6">
                        <a:lumMod val="20000"/>
                        <a:lumOff val="80000"/>
                      </a:schemeClr>
                    </a:solidFill>
                  </a:tcPr>
                </a:tc>
                <a:tc>
                  <a:txBody>
                    <a:bodyPr/>
                    <a:lstStyle/>
                    <a:p>
                      <a:pPr algn="ctr" fontAlgn="ctr">
                        <a:buNone/>
                      </a:pPr>
                      <a:r>
                        <a:rPr lang="en-US" sz="1200" u="none" strike="noStrike" dirty="0">
                          <a:effectLst/>
                        </a:rPr>
                        <a:t>Y1 S2</a:t>
                      </a:r>
                      <a:endParaRPr lang="en-US" sz="1200" b="0" i="0" u="none" strike="noStrike" dirty="0">
                        <a:solidFill>
                          <a:srgbClr val="000000"/>
                        </a:solidFill>
                        <a:effectLst/>
                        <a:latin typeface="Aptos" panose="020B0004020202020204" pitchFamily="34" charset="0"/>
                      </a:endParaRPr>
                    </a:p>
                  </a:txBody>
                  <a:tcPr marL="6350" marR="6350" marT="6350" marB="0" anchor="ctr">
                    <a:solidFill>
                      <a:schemeClr val="accent6">
                        <a:lumMod val="20000"/>
                        <a:lumOff val="80000"/>
                      </a:schemeClr>
                    </a:solidFill>
                  </a:tcPr>
                </a:tc>
                <a:extLst>
                  <a:ext uri="{0D108BD9-81ED-4DB2-BD59-A6C34878D82A}">
                    <a16:rowId xmlns:a16="http://schemas.microsoft.com/office/drawing/2014/main" val="1796487704"/>
                  </a:ext>
                </a:extLst>
              </a:tr>
              <a:tr h="195455">
                <a:tc vMerge="1">
                  <a:txBody>
                    <a:bodyPr/>
                    <a:lstStyle/>
                    <a:p>
                      <a:endParaRPr lang="en-US"/>
                    </a:p>
                  </a:txBody>
                  <a:tcPr/>
                </a:tc>
                <a:tc>
                  <a:txBody>
                    <a:bodyPr/>
                    <a:lstStyle/>
                    <a:p>
                      <a:pPr algn="ctr" fontAlgn="ctr">
                        <a:buNone/>
                      </a:pPr>
                      <a:r>
                        <a:rPr lang="en-US" sz="1200" u="none" strike="noStrike" dirty="0">
                          <a:effectLst/>
                        </a:rPr>
                        <a:t>6/1/2025</a:t>
                      </a:r>
                      <a:endParaRPr lang="en-US" sz="1200" b="0" i="0" u="none" strike="noStrike" dirty="0">
                        <a:solidFill>
                          <a:srgbClr val="000000"/>
                        </a:solidFill>
                        <a:effectLst/>
                        <a:latin typeface="Aptos" panose="020B0004020202020204" pitchFamily="34" charset="0"/>
                      </a:endParaRPr>
                    </a:p>
                  </a:txBody>
                  <a:tcPr marL="6350" marR="6350" marT="6350" marB="0" anchor="ctr">
                    <a:solidFill>
                      <a:schemeClr val="accent6">
                        <a:lumMod val="20000"/>
                        <a:lumOff val="80000"/>
                      </a:schemeClr>
                    </a:solidFill>
                  </a:tcPr>
                </a:tc>
                <a:tc>
                  <a:txBody>
                    <a:bodyPr/>
                    <a:lstStyle/>
                    <a:p>
                      <a:pPr algn="l" fontAlgn="ctr">
                        <a:buNone/>
                      </a:pPr>
                      <a:r>
                        <a:rPr lang="en-US" sz="1200" u="none" strike="noStrike" dirty="0">
                          <a:effectLst/>
                        </a:rPr>
                        <a:t>2B WE (BMBA)</a:t>
                      </a:r>
                      <a:endParaRPr lang="en-US" sz="1200" b="0" i="0" u="none" strike="noStrike" dirty="0">
                        <a:solidFill>
                          <a:srgbClr val="000000"/>
                        </a:solidFill>
                        <a:effectLst/>
                        <a:latin typeface="Aptos" panose="020B0004020202020204" pitchFamily="34" charset="0"/>
                      </a:endParaRPr>
                    </a:p>
                  </a:txBody>
                  <a:tcPr marL="6350" marR="6350" marT="6350" marB="0" anchor="ctr">
                    <a:solidFill>
                      <a:schemeClr val="accent6">
                        <a:lumMod val="20000"/>
                        <a:lumOff val="80000"/>
                      </a:schemeClr>
                    </a:solidFill>
                  </a:tcPr>
                </a:tc>
                <a:tc>
                  <a:txBody>
                    <a:bodyPr/>
                    <a:lstStyle/>
                    <a:p>
                      <a:pPr algn="ctr" fontAlgn="ctr">
                        <a:buNone/>
                      </a:pPr>
                      <a:r>
                        <a:rPr lang="en-US" sz="1200" u="none" strike="noStrike">
                          <a:effectLst/>
                        </a:rPr>
                        <a:t>Y1 S2</a:t>
                      </a:r>
                      <a:endParaRPr lang="en-US" sz="1200" b="0" i="0" u="none" strike="noStrike">
                        <a:solidFill>
                          <a:srgbClr val="000000"/>
                        </a:solidFill>
                        <a:effectLst/>
                        <a:latin typeface="Aptos" panose="020B0004020202020204" pitchFamily="34" charset="0"/>
                      </a:endParaRPr>
                    </a:p>
                  </a:txBody>
                  <a:tcPr marL="6350" marR="6350" marT="6350" marB="0" anchor="ctr">
                    <a:solidFill>
                      <a:schemeClr val="accent6">
                        <a:lumMod val="20000"/>
                        <a:lumOff val="80000"/>
                      </a:schemeClr>
                    </a:solidFill>
                  </a:tcPr>
                </a:tc>
                <a:extLst>
                  <a:ext uri="{0D108BD9-81ED-4DB2-BD59-A6C34878D82A}">
                    <a16:rowId xmlns:a16="http://schemas.microsoft.com/office/drawing/2014/main" val="3172548070"/>
                  </a:ext>
                </a:extLst>
              </a:tr>
              <a:tr h="195455">
                <a:tc vMerge="1">
                  <a:txBody>
                    <a:bodyPr/>
                    <a:lstStyle/>
                    <a:p>
                      <a:endParaRPr lang="en-US"/>
                    </a:p>
                  </a:txBody>
                  <a:tcPr/>
                </a:tc>
                <a:tc>
                  <a:txBody>
                    <a:bodyPr/>
                    <a:lstStyle/>
                    <a:p>
                      <a:pPr algn="ctr" fontAlgn="ctr">
                        <a:buNone/>
                      </a:pPr>
                      <a:r>
                        <a:rPr lang="en-US" sz="1200" u="none" strike="noStrike" dirty="0">
                          <a:effectLst/>
                        </a:rPr>
                        <a:t>6/13/2025</a:t>
                      </a:r>
                      <a:endParaRPr lang="en-US" sz="1200" b="0" i="0" u="none" strike="noStrike" dirty="0">
                        <a:solidFill>
                          <a:srgbClr val="000000"/>
                        </a:solidFill>
                        <a:effectLst/>
                        <a:latin typeface="Aptos" panose="020B0004020202020204" pitchFamily="34" charset="0"/>
                      </a:endParaRPr>
                    </a:p>
                  </a:txBody>
                  <a:tcPr marL="6350" marR="6350" marT="6350" marB="0" anchor="ctr">
                    <a:solidFill>
                      <a:schemeClr val="accent6">
                        <a:lumMod val="20000"/>
                        <a:lumOff val="80000"/>
                      </a:schemeClr>
                    </a:solidFill>
                  </a:tcPr>
                </a:tc>
                <a:tc>
                  <a:txBody>
                    <a:bodyPr/>
                    <a:lstStyle/>
                    <a:p>
                      <a:pPr algn="l" fontAlgn="ctr">
                        <a:buNone/>
                      </a:pPr>
                      <a:r>
                        <a:rPr lang="en-US" sz="1200" u="none" strike="noStrike" dirty="0">
                          <a:effectLst/>
                        </a:rPr>
                        <a:t>17B MOHE /WD</a:t>
                      </a:r>
                      <a:endParaRPr lang="en-US" sz="1200" b="0" i="0" u="none" strike="noStrike" dirty="0">
                        <a:solidFill>
                          <a:srgbClr val="000000"/>
                        </a:solidFill>
                        <a:effectLst/>
                        <a:latin typeface="Aptos" panose="020B0004020202020204" pitchFamily="34" charset="0"/>
                      </a:endParaRPr>
                    </a:p>
                  </a:txBody>
                  <a:tcPr marL="6350" marR="6350" marT="6350" marB="0" anchor="ctr">
                    <a:solidFill>
                      <a:schemeClr val="accent6">
                        <a:lumMod val="20000"/>
                        <a:lumOff val="80000"/>
                      </a:schemeClr>
                    </a:solidFill>
                  </a:tcPr>
                </a:tc>
                <a:tc>
                  <a:txBody>
                    <a:bodyPr/>
                    <a:lstStyle/>
                    <a:p>
                      <a:pPr algn="ctr" fontAlgn="ctr">
                        <a:buNone/>
                      </a:pPr>
                      <a:r>
                        <a:rPr lang="en-US" sz="1200" u="none" strike="noStrike">
                          <a:effectLst/>
                        </a:rPr>
                        <a:t>Y2 S2</a:t>
                      </a:r>
                      <a:endParaRPr lang="en-US" sz="1200" b="0" i="0" u="none" strike="noStrike">
                        <a:solidFill>
                          <a:srgbClr val="000000"/>
                        </a:solidFill>
                        <a:effectLst/>
                        <a:latin typeface="Aptos" panose="020B0004020202020204" pitchFamily="34" charset="0"/>
                      </a:endParaRPr>
                    </a:p>
                  </a:txBody>
                  <a:tcPr marL="6350" marR="6350" marT="6350" marB="0" anchor="ctr">
                    <a:solidFill>
                      <a:schemeClr val="accent6">
                        <a:lumMod val="20000"/>
                        <a:lumOff val="80000"/>
                      </a:schemeClr>
                    </a:solidFill>
                  </a:tcPr>
                </a:tc>
                <a:extLst>
                  <a:ext uri="{0D108BD9-81ED-4DB2-BD59-A6C34878D82A}">
                    <a16:rowId xmlns:a16="http://schemas.microsoft.com/office/drawing/2014/main" val="2048422785"/>
                  </a:ext>
                </a:extLst>
              </a:tr>
              <a:tr h="195455">
                <a:tc vMerge="1">
                  <a:txBody>
                    <a:bodyPr/>
                    <a:lstStyle/>
                    <a:p>
                      <a:endParaRPr lang="en-US"/>
                    </a:p>
                  </a:txBody>
                  <a:tcPr/>
                </a:tc>
                <a:tc>
                  <a:txBody>
                    <a:bodyPr/>
                    <a:lstStyle/>
                    <a:p>
                      <a:pPr algn="ctr" fontAlgn="ctr">
                        <a:buNone/>
                      </a:pPr>
                      <a:r>
                        <a:rPr lang="en-US" sz="1200" u="none" strike="noStrike">
                          <a:effectLst/>
                        </a:rPr>
                        <a:t>6/13/2025</a:t>
                      </a:r>
                      <a:endParaRPr lang="en-US" sz="1200" b="0" i="0" u="none" strike="noStrike">
                        <a:solidFill>
                          <a:srgbClr val="000000"/>
                        </a:solidFill>
                        <a:effectLst/>
                        <a:latin typeface="Aptos" panose="020B0004020202020204" pitchFamily="34" charset="0"/>
                      </a:endParaRPr>
                    </a:p>
                  </a:txBody>
                  <a:tcPr marL="6350" marR="6350" marT="6350" marB="0" anchor="ctr">
                    <a:solidFill>
                      <a:schemeClr val="accent6">
                        <a:lumMod val="20000"/>
                        <a:lumOff val="80000"/>
                      </a:schemeClr>
                    </a:solidFill>
                  </a:tcPr>
                </a:tc>
                <a:tc>
                  <a:txBody>
                    <a:bodyPr/>
                    <a:lstStyle/>
                    <a:p>
                      <a:pPr algn="l" fontAlgn="ctr">
                        <a:buNone/>
                      </a:pPr>
                      <a:r>
                        <a:rPr lang="en-US" sz="1200" u="none" strike="noStrike" dirty="0">
                          <a:effectLst/>
                        </a:rPr>
                        <a:t>18A WD</a:t>
                      </a:r>
                      <a:endParaRPr lang="en-US" sz="1200" b="0" i="0" u="none" strike="noStrike" dirty="0">
                        <a:solidFill>
                          <a:srgbClr val="000000"/>
                        </a:solidFill>
                        <a:effectLst/>
                        <a:latin typeface="Aptos" panose="020B0004020202020204" pitchFamily="34" charset="0"/>
                      </a:endParaRPr>
                    </a:p>
                  </a:txBody>
                  <a:tcPr marL="6350" marR="6350" marT="6350" marB="0" anchor="ctr">
                    <a:solidFill>
                      <a:schemeClr val="accent6">
                        <a:lumMod val="20000"/>
                        <a:lumOff val="80000"/>
                      </a:schemeClr>
                    </a:solidFill>
                  </a:tcPr>
                </a:tc>
                <a:tc>
                  <a:txBody>
                    <a:bodyPr/>
                    <a:lstStyle/>
                    <a:p>
                      <a:pPr algn="ctr" fontAlgn="ctr">
                        <a:buNone/>
                      </a:pPr>
                      <a:r>
                        <a:rPr lang="en-US" sz="1200" u="none" strike="noStrike">
                          <a:effectLst/>
                        </a:rPr>
                        <a:t>Y2 S1</a:t>
                      </a:r>
                      <a:endParaRPr lang="en-US" sz="1200" b="0" i="0" u="none" strike="noStrike">
                        <a:solidFill>
                          <a:srgbClr val="000000"/>
                        </a:solidFill>
                        <a:effectLst/>
                        <a:latin typeface="Aptos" panose="020B0004020202020204" pitchFamily="34" charset="0"/>
                      </a:endParaRPr>
                    </a:p>
                  </a:txBody>
                  <a:tcPr marL="6350" marR="6350" marT="6350" marB="0" anchor="ctr">
                    <a:solidFill>
                      <a:schemeClr val="accent6">
                        <a:lumMod val="20000"/>
                        <a:lumOff val="80000"/>
                      </a:schemeClr>
                    </a:solidFill>
                  </a:tcPr>
                </a:tc>
                <a:extLst>
                  <a:ext uri="{0D108BD9-81ED-4DB2-BD59-A6C34878D82A}">
                    <a16:rowId xmlns:a16="http://schemas.microsoft.com/office/drawing/2014/main" val="724964442"/>
                  </a:ext>
                </a:extLst>
              </a:tr>
              <a:tr h="195455">
                <a:tc vMerge="1">
                  <a:txBody>
                    <a:bodyPr/>
                    <a:lstStyle/>
                    <a:p>
                      <a:endParaRPr lang="en-US"/>
                    </a:p>
                  </a:txBody>
                  <a:tcPr/>
                </a:tc>
                <a:tc>
                  <a:txBody>
                    <a:bodyPr/>
                    <a:lstStyle/>
                    <a:p>
                      <a:pPr algn="ctr" fontAlgn="ctr">
                        <a:buNone/>
                      </a:pPr>
                      <a:r>
                        <a:rPr lang="en-US" sz="1200" u="none" strike="noStrike">
                          <a:effectLst/>
                        </a:rPr>
                        <a:t>6/25/2025</a:t>
                      </a:r>
                      <a:endParaRPr lang="en-US" sz="1200" b="0" i="0" u="none" strike="noStrike">
                        <a:solidFill>
                          <a:srgbClr val="000000"/>
                        </a:solidFill>
                        <a:effectLst/>
                        <a:latin typeface="Aptos" panose="020B0004020202020204" pitchFamily="34" charset="0"/>
                      </a:endParaRPr>
                    </a:p>
                  </a:txBody>
                  <a:tcPr marL="6350" marR="6350" marT="6350" marB="0" anchor="ctr">
                    <a:solidFill>
                      <a:schemeClr val="accent6">
                        <a:lumMod val="20000"/>
                        <a:lumOff val="80000"/>
                      </a:schemeClr>
                    </a:solidFill>
                  </a:tcPr>
                </a:tc>
                <a:tc>
                  <a:txBody>
                    <a:bodyPr/>
                    <a:lstStyle/>
                    <a:p>
                      <a:pPr algn="l" fontAlgn="ctr">
                        <a:buNone/>
                      </a:pPr>
                      <a:r>
                        <a:rPr lang="en-US" sz="1200" u="none" strike="noStrike" dirty="0">
                          <a:effectLst/>
                        </a:rPr>
                        <a:t>19A WD/ MOHE WD</a:t>
                      </a:r>
                      <a:endParaRPr lang="en-US" sz="1200" b="0" i="0" u="none" strike="noStrike" dirty="0">
                        <a:solidFill>
                          <a:srgbClr val="000000"/>
                        </a:solidFill>
                        <a:effectLst/>
                        <a:latin typeface="Aptos" panose="020B0004020202020204" pitchFamily="34" charset="0"/>
                      </a:endParaRPr>
                    </a:p>
                  </a:txBody>
                  <a:tcPr marL="6350" marR="6350" marT="6350" marB="0" anchor="ctr">
                    <a:solidFill>
                      <a:schemeClr val="accent6">
                        <a:lumMod val="20000"/>
                        <a:lumOff val="80000"/>
                      </a:schemeClr>
                    </a:solidFill>
                  </a:tcPr>
                </a:tc>
                <a:tc>
                  <a:txBody>
                    <a:bodyPr/>
                    <a:lstStyle/>
                    <a:p>
                      <a:pPr algn="ctr" fontAlgn="ctr">
                        <a:buNone/>
                      </a:pPr>
                      <a:r>
                        <a:rPr lang="en-US" sz="1200" u="none" strike="noStrike" dirty="0">
                          <a:effectLst/>
                        </a:rPr>
                        <a:t>Y1 S1</a:t>
                      </a:r>
                      <a:endParaRPr lang="en-US" sz="1200" b="0" i="0" u="none" strike="noStrike" dirty="0">
                        <a:solidFill>
                          <a:srgbClr val="000000"/>
                        </a:solidFill>
                        <a:effectLst/>
                        <a:latin typeface="Aptos" panose="020B0004020202020204" pitchFamily="34" charset="0"/>
                      </a:endParaRPr>
                    </a:p>
                  </a:txBody>
                  <a:tcPr marL="6350" marR="6350" marT="6350" marB="0" anchor="ctr">
                    <a:solidFill>
                      <a:schemeClr val="accent6">
                        <a:lumMod val="20000"/>
                        <a:lumOff val="80000"/>
                      </a:schemeClr>
                    </a:solidFill>
                  </a:tcPr>
                </a:tc>
                <a:extLst>
                  <a:ext uri="{0D108BD9-81ED-4DB2-BD59-A6C34878D82A}">
                    <a16:rowId xmlns:a16="http://schemas.microsoft.com/office/drawing/2014/main" val="572089036"/>
                  </a:ext>
                </a:extLst>
              </a:tr>
              <a:tr h="201563">
                <a:tc vMerge="1">
                  <a:txBody>
                    <a:bodyPr/>
                    <a:lstStyle/>
                    <a:p>
                      <a:endParaRPr lang="en-US"/>
                    </a:p>
                  </a:txBody>
                  <a:tcPr/>
                </a:tc>
                <a:tc>
                  <a:txBody>
                    <a:bodyPr/>
                    <a:lstStyle/>
                    <a:p>
                      <a:pPr algn="ctr" fontAlgn="ctr">
                        <a:buNone/>
                      </a:pPr>
                      <a:r>
                        <a:rPr lang="en-US" sz="1200" u="none" strike="noStrike">
                          <a:effectLst/>
                        </a:rPr>
                        <a:t>6/25/2025</a:t>
                      </a:r>
                      <a:endParaRPr lang="en-US" sz="1200" b="0" i="0" u="none" strike="noStrike">
                        <a:solidFill>
                          <a:srgbClr val="000000"/>
                        </a:solidFill>
                        <a:effectLst/>
                        <a:latin typeface="Aptos" panose="020B0004020202020204" pitchFamily="34" charset="0"/>
                      </a:endParaRPr>
                    </a:p>
                  </a:txBody>
                  <a:tcPr marL="6350" marR="6350" marT="6350" marB="0" anchor="ctr">
                    <a:solidFill>
                      <a:schemeClr val="accent6">
                        <a:lumMod val="20000"/>
                        <a:lumOff val="80000"/>
                      </a:schemeClr>
                    </a:solidFill>
                  </a:tcPr>
                </a:tc>
                <a:tc>
                  <a:txBody>
                    <a:bodyPr/>
                    <a:lstStyle/>
                    <a:p>
                      <a:pPr algn="l" fontAlgn="ctr">
                        <a:buNone/>
                      </a:pPr>
                      <a:r>
                        <a:rPr lang="en-US" sz="1200" u="none" strike="noStrike">
                          <a:effectLst/>
                        </a:rPr>
                        <a:t>3A WD/ MOHE WD (BMBA)</a:t>
                      </a:r>
                      <a:endParaRPr lang="en-US" sz="1200" b="0" i="0" u="none" strike="noStrike">
                        <a:solidFill>
                          <a:srgbClr val="000000"/>
                        </a:solidFill>
                        <a:effectLst/>
                        <a:latin typeface="Aptos" panose="020B0004020202020204" pitchFamily="34" charset="0"/>
                      </a:endParaRPr>
                    </a:p>
                  </a:txBody>
                  <a:tcPr marL="6350" marR="6350" marT="6350" marB="0" anchor="ctr">
                    <a:solidFill>
                      <a:schemeClr val="accent6">
                        <a:lumMod val="20000"/>
                        <a:lumOff val="80000"/>
                      </a:schemeClr>
                    </a:solidFill>
                  </a:tcPr>
                </a:tc>
                <a:tc>
                  <a:txBody>
                    <a:bodyPr/>
                    <a:lstStyle/>
                    <a:p>
                      <a:pPr algn="ctr" fontAlgn="ctr">
                        <a:buNone/>
                      </a:pPr>
                      <a:r>
                        <a:rPr lang="en-US" sz="1200" u="none" strike="noStrike" dirty="0">
                          <a:effectLst/>
                        </a:rPr>
                        <a:t>Y1 S1</a:t>
                      </a:r>
                      <a:endParaRPr lang="en-US" sz="1200" b="0" i="0" u="none" strike="noStrike" dirty="0">
                        <a:solidFill>
                          <a:srgbClr val="000000"/>
                        </a:solidFill>
                        <a:effectLst/>
                        <a:latin typeface="Aptos" panose="020B0004020202020204" pitchFamily="34" charset="0"/>
                      </a:endParaRPr>
                    </a:p>
                  </a:txBody>
                  <a:tcPr marL="6350" marR="6350" marT="6350" marB="0" anchor="ctr">
                    <a:solidFill>
                      <a:schemeClr val="accent6">
                        <a:lumMod val="20000"/>
                        <a:lumOff val="80000"/>
                      </a:schemeClr>
                    </a:solidFill>
                  </a:tcPr>
                </a:tc>
                <a:extLst>
                  <a:ext uri="{0D108BD9-81ED-4DB2-BD59-A6C34878D82A}">
                    <a16:rowId xmlns:a16="http://schemas.microsoft.com/office/drawing/2014/main" val="1587640194"/>
                  </a:ext>
                </a:extLst>
              </a:tr>
            </a:tbl>
          </a:graphicData>
        </a:graphic>
      </p:graphicFrame>
    </p:spTree>
    <p:extLst>
      <p:ext uri="{BB962C8B-B14F-4D97-AF65-F5344CB8AC3E}">
        <p14:creationId xmlns:p14="http://schemas.microsoft.com/office/powerpoint/2010/main" val="2534905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776A6-A910-D137-F757-87311B8652D6}"/>
              </a:ext>
            </a:extLst>
          </p:cNvPr>
          <p:cNvSpPr>
            <a:spLocks noGrp="1"/>
          </p:cNvSpPr>
          <p:nvPr>
            <p:ph type="title"/>
          </p:nvPr>
        </p:nvSpPr>
        <p:spPr>
          <a:xfrm>
            <a:off x="3054626" y="230154"/>
            <a:ext cx="10515600" cy="315912"/>
          </a:xfrm>
        </p:spPr>
        <p:txBody>
          <a:bodyPr>
            <a:normAutofit fontScale="90000"/>
          </a:bodyPr>
          <a:lstStyle/>
          <a:p>
            <a:r>
              <a:rPr lang="en-US" b="1" dirty="0"/>
              <a:t>Marketing division</a:t>
            </a:r>
          </a:p>
        </p:txBody>
      </p:sp>
      <p:graphicFrame>
        <p:nvGraphicFramePr>
          <p:cNvPr id="10" name="Table 9">
            <a:extLst>
              <a:ext uri="{FF2B5EF4-FFF2-40B4-BE49-F238E27FC236}">
                <a16:creationId xmlns:a16="http://schemas.microsoft.com/office/drawing/2014/main" id="{5A825E92-A504-1976-4712-CF4258BC899C}"/>
              </a:ext>
            </a:extLst>
          </p:cNvPr>
          <p:cNvGraphicFramePr>
            <a:graphicFrameLocks noGrp="1"/>
          </p:cNvGraphicFramePr>
          <p:nvPr>
            <p:extLst>
              <p:ext uri="{D42A27DB-BD31-4B8C-83A1-F6EECF244321}">
                <p14:modId xmlns:p14="http://schemas.microsoft.com/office/powerpoint/2010/main" val="1875857694"/>
              </p:ext>
            </p:extLst>
          </p:nvPr>
        </p:nvGraphicFramePr>
        <p:xfrm>
          <a:off x="1638300" y="1033669"/>
          <a:ext cx="8915400" cy="5307495"/>
        </p:xfrm>
        <a:graphic>
          <a:graphicData uri="http://schemas.openxmlformats.org/drawingml/2006/table">
            <a:tbl>
              <a:tblPr firstRow="1" firstCol="1" bandRow="1">
                <a:tableStyleId>{5C22544A-7EE6-4342-B048-85BDC9FD1C3A}</a:tableStyleId>
              </a:tblPr>
              <a:tblGrid>
                <a:gridCol w="1887202">
                  <a:extLst>
                    <a:ext uri="{9D8B030D-6E8A-4147-A177-3AD203B41FA5}">
                      <a16:colId xmlns:a16="http://schemas.microsoft.com/office/drawing/2014/main" val="2748111999"/>
                    </a:ext>
                  </a:extLst>
                </a:gridCol>
                <a:gridCol w="1081264">
                  <a:extLst>
                    <a:ext uri="{9D8B030D-6E8A-4147-A177-3AD203B41FA5}">
                      <a16:colId xmlns:a16="http://schemas.microsoft.com/office/drawing/2014/main" val="3739763766"/>
                    </a:ext>
                  </a:extLst>
                </a:gridCol>
                <a:gridCol w="1081264">
                  <a:extLst>
                    <a:ext uri="{9D8B030D-6E8A-4147-A177-3AD203B41FA5}">
                      <a16:colId xmlns:a16="http://schemas.microsoft.com/office/drawing/2014/main" val="505533274"/>
                    </a:ext>
                  </a:extLst>
                </a:gridCol>
                <a:gridCol w="1351575">
                  <a:extLst>
                    <a:ext uri="{9D8B030D-6E8A-4147-A177-3AD203B41FA5}">
                      <a16:colId xmlns:a16="http://schemas.microsoft.com/office/drawing/2014/main" val="1343862585"/>
                    </a:ext>
                  </a:extLst>
                </a:gridCol>
                <a:gridCol w="1351575">
                  <a:extLst>
                    <a:ext uri="{9D8B030D-6E8A-4147-A177-3AD203B41FA5}">
                      <a16:colId xmlns:a16="http://schemas.microsoft.com/office/drawing/2014/main" val="4014815798"/>
                    </a:ext>
                  </a:extLst>
                </a:gridCol>
                <a:gridCol w="1351575">
                  <a:extLst>
                    <a:ext uri="{9D8B030D-6E8A-4147-A177-3AD203B41FA5}">
                      <a16:colId xmlns:a16="http://schemas.microsoft.com/office/drawing/2014/main" val="885197543"/>
                    </a:ext>
                  </a:extLst>
                </a:gridCol>
                <a:gridCol w="810945">
                  <a:extLst>
                    <a:ext uri="{9D8B030D-6E8A-4147-A177-3AD203B41FA5}">
                      <a16:colId xmlns:a16="http://schemas.microsoft.com/office/drawing/2014/main" val="2813177163"/>
                    </a:ext>
                  </a:extLst>
                </a:gridCol>
              </a:tblGrid>
              <a:tr h="733286">
                <a:tc>
                  <a:txBody>
                    <a:bodyPr/>
                    <a:lstStyle/>
                    <a:p>
                      <a:pPr marL="0" marR="0">
                        <a:lnSpc>
                          <a:spcPct val="107000"/>
                        </a:lnSpc>
                        <a:spcAft>
                          <a:spcPts val="800"/>
                        </a:spcAft>
                        <a:buNone/>
                      </a:pPr>
                      <a:r>
                        <a:rPr lang="en-US" sz="1800" kern="100">
                          <a:effectLst/>
                        </a:rPr>
                        <a:t> </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 </a:t>
                      </a:r>
                      <a:endParaRPr lang="en-US" sz="2400" kern="100">
                        <a:effectLst/>
                      </a:endParaRPr>
                    </a:p>
                    <a:p>
                      <a:pPr marL="0" marR="0" algn="ctr">
                        <a:lnSpc>
                          <a:spcPct val="107000"/>
                        </a:lnSpc>
                        <a:spcAft>
                          <a:spcPts val="800"/>
                        </a:spcAft>
                        <a:buNone/>
                      </a:pPr>
                      <a:r>
                        <a:rPr lang="en-US" sz="1800" kern="100">
                          <a:effectLst/>
                        </a:rPr>
                        <a:t>Target</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Feb/</a:t>
                      </a:r>
                      <a:endParaRPr lang="en-US" sz="2400" kern="100">
                        <a:effectLst/>
                      </a:endParaRPr>
                    </a:p>
                    <a:p>
                      <a:pPr marL="0" marR="0" algn="ctr">
                        <a:lnSpc>
                          <a:spcPct val="107000"/>
                        </a:lnSpc>
                        <a:spcAft>
                          <a:spcPts val="800"/>
                        </a:spcAft>
                        <a:buNone/>
                      </a:pPr>
                      <a:r>
                        <a:rPr lang="en-US" sz="1800" kern="100">
                          <a:effectLst/>
                        </a:rPr>
                        <a:t>March</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July</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Cumulative</a:t>
                      </a:r>
                      <a:endParaRPr lang="en-US" sz="2400" kern="100">
                        <a:effectLst/>
                      </a:endParaRPr>
                    </a:p>
                    <a:p>
                      <a:pPr marL="0" marR="0" algn="ctr">
                        <a:lnSpc>
                          <a:spcPct val="107000"/>
                        </a:lnSpc>
                        <a:spcAft>
                          <a:spcPts val="800"/>
                        </a:spcAft>
                        <a:buNone/>
                      </a:pPr>
                      <a:r>
                        <a:rPr lang="en-US" sz="1800" kern="100">
                          <a:effectLst/>
                        </a:rPr>
                        <a:t>(July)</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Sep/ Oct</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nSpc>
                          <a:spcPct val="107000"/>
                        </a:lnSpc>
                        <a:spcAft>
                          <a:spcPts val="800"/>
                        </a:spcAft>
                        <a:buNone/>
                      </a:pPr>
                      <a:r>
                        <a:rPr lang="en-US" sz="1800" kern="100" dirty="0">
                          <a:effectLst/>
                        </a:rPr>
                        <a:t> </a:t>
                      </a:r>
                      <a:endParaRPr lang="en-US" sz="2400" kern="100" dirty="0">
                        <a:effectLst/>
                      </a:endParaRPr>
                    </a:p>
                    <a:p>
                      <a:pPr marL="0" marR="0" algn="ctr">
                        <a:lnSpc>
                          <a:spcPct val="107000"/>
                        </a:lnSpc>
                        <a:spcAft>
                          <a:spcPts val="800"/>
                        </a:spcAft>
                        <a:buNone/>
                      </a:pPr>
                      <a:r>
                        <a:rPr lang="en-US" sz="1800" kern="100" dirty="0">
                          <a:effectLst/>
                        </a:rPr>
                        <a:t>Total</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extLst>
                  <a:ext uri="{0D108BD9-81ED-4DB2-BD59-A6C34878D82A}">
                    <a16:rowId xmlns:a16="http://schemas.microsoft.com/office/drawing/2014/main" val="2479039535"/>
                  </a:ext>
                </a:extLst>
              </a:tr>
              <a:tr h="346064">
                <a:tc rowSpan="2">
                  <a:txBody>
                    <a:bodyPr/>
                    <a:lstStyle/>
                    <a:p>
                      <a:pPr marL="0" marR="0">
                        <a:lnSpc>
                          <a:spcPct val="107000"/>
                        </a:lnSpc>
                        <a:spcAft>
                          <a:spcPts val="800"/>
                        </a:spcAft>
                        <a:buNone/>
                      </a:pPr>
                      <a:r>
                        <a:rPr lang="en-US" sz="1800" kern="100">
                          <a:effectLst/>
                        </a:rPr>
                        <a:t>Applied Accounting</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Budget</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100</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150</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250</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50</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dirty="0">
                          <a:effectLst/>
                        </a:rPr>
                        <a:t>300</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extLst>
                  <a:ext uri="{0D108BD9-81ED-4DB2-BD59-A6C34878D82A}">
                    <a16:rowId xmlns:a16="http://schemas.microsoft.com/office/drawing/2014/main" val="1676904428"/>
                  </a:ext>
                </a:extLst>
              </a:tr>
              <a:tr h="346064">
                <a:tc vMerge="1">
                  <a:txBody>
                    <a:bodyPr/>
                    <a:lstStyle/>
                    <a:p>
                      <a:endParaRPr lang="en-US"/>
                    </a:p>
                  </a:txBody>
                  <a:tcPr/>
                </a:tc>
                <a:tc>
                  <a:txBody>
                    <a:bodyPr/>
                    <a:lstStyle/>
                    <a:p>
                      <a:pPr marL="0" marR="0" algn="ctr">
                        <a:lnSpc>
                          <a:spcPct val="107000"/>
                        </a:lnSpc>
                        <a:spcAft>
                          <a:spcPts val="800"/>
                        </a:spcAft>
                        <a:buNone/>
                      </a:pPr>
                      <a:r>
                        <a:rPr lang="en-US" sz="1800" kern="100">
                          <a:effectLst/>
                        </a:rPr>
                        <a:t>Actual</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b="1" kern="100" dirty="0">
                          <a:effectLst/>
                        </a:rPr>
                        <a:t>102</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123</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225</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b="1" kern="100" dirty="0">
                          <a:effectLst/>
                        </a:rPr>
                        <a:t> </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225</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extLst>
                  <a:ext uri="{0D108BD9-81ED-4DB2-BD59-A6C34878D82A}">
                    <a16:rowId xmlns:a16="http://schemas.microsoft.com/office/drawing/2014/main" val="3935778308"/>
                  </a:ext>
                </a:extLst>
              </a:tr>
              <a:tr h="408854">
                <a:tc rowSpan="2">
                  <a:txBody>
                    <a:bodyPr/>
                    <a:lstStyle/>
                    <a:p>
                      <a:pPr marL="0" marR="0">
                        <a:lnSpc>
                          <a:spcPct val="107000"/>
                        </a:lnSpc>
                        <a:spcAft>
                          <a:spcPts val="800"/>
                        </a:spcAft>
                        <a:buNone/>
                      </a:pPr>
                      <a:r>
                        <a:rPr lang="en-US" sz="1800" kern="100">
                          <a:effectLst/>
                        </a:rPr>
                        <a:t>Business Analytic</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Budget</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50</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 </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50</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extLst>
                  <a:ext uri="{0D108BD9-81ED-4DB2-BD59-A6C34878D82A}">
                    <a16:rowId xmlns:a16="http://schemas.microsoft.com/office/drawing/2014/main" val="3864944494"/>
                  </a:ext>
                </a:extLst>
              </a:tr>
              <a:tr h="346064">
                <a:tc vMerge="1">
                  <a:txBody>
                    <a:bodyPr/>
                    <a:lstStyle/>
                    <a:p>
                      <a:endParaRPr lang="en-US"/>
                    </a:p>
                  </a:txBody>
                  <a:tcPr/>
                </a:tc>
                <a:tc>
                  <a:txBody>
                    <a:bodyPr/>
                    <a:lstStyle/>
                    <a:p>
                      <a:pPr marL="0" marR="0" algn="ctr">
                        <a:lnSpc>
                          <a:spcPct val="107000"/>
                        </a:lnSpc>
                        <a:spcAft>
                          <a:spcPts val="800"/>
                        </a:spcAft>
                        <a:buNone/>
                      </a:pPr>
                      <a:r>
                        <a:rPr lang="en-US" sz="1800" kern="100">
                          <a:effectLst/>
                        </a:rPr>
                        <a:t>Actual</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b="1" kern="100" dirty="0">
                          <a:effectLst/>
                        </a:rPr>
                        <a:t>21</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27</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48</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b="1" kern="100" dirty="0">
                          <a:effectLst/>
                        </a:rPr>
                        <a:t> </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48</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extLst>
                  <a:ext uri="{0D108BD9-81ED-4DB2-BD59-A6C34878D82A}">
                    <a16:rowId xmlns:a16="http://schemas.microsoft.com/office/drawing/2014/main" val="982636418"/>
                  </a:ext>
                </a:extLst>
              </a:tr>
              <a:tr h="346064">
                <a:tc rowSpan="2">
                  <a:txBody>
                    <a:bodyPr/>
                    <a:lstStyle/>
                    <a:p>
                      <a:pPr marL="0" marR="0">
                        <a:lnSpc>
                          <a:spcPct val="107000"/>
                        </a:lnSpc>
                        <a:spcAft>
                          <a:spcPts val="800"/>
                        </a:spcAft>
                        <a:buNone/>
                      </a:pPr>
                      <a:r>
                        <a:rPr lang="en-US" sz="1800" kern="100">
                          <a:effectLst/>
                        </a:rPr>
                        <a:t>Exemptions</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Budget</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dirty="0">
                          <a:effectLst/>
                        </a:rPr>
                        <a:t> </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50</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dirty="0">
                          <a:effectLst/>
                        </a:rPr>
                        <a:t>50</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dirty="0">
                          <a:effectLst/>
                        </a:rPr>
                        <a:t> </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50</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extLst>
                  <a:ext uri="{0D108BD9-81ED-4DB2-BD59-A6C34878D82A}">
                    <a16:rowId xmlns:a16="http://schemas.microsoft.com/office/drawing/2014/main" val="1189292190"/>
                  </a:ext>
                </a:extLst>
              </a:tr>
              <a:tr h="346064">
                <a:tc vMerge="1">
                  <a:txBody>
                    <a:bodyPr/>
                    <a:lstStyle/>
                    <a:p>
                      <a:endParaRPr lang="en-US"/>
                    </a:p>
                  </a:txBody>
                  <a:tcPr/>
                </a:tc>
                <a:tc>
                  <a:txBody>
                    <a:bodyPr/>
                    <a:lstStyle/>
                    <a:p>
                      <a:pPr marL="0" marR="0" algn="ctr">
                        <a:lnSpc>
                          <a:spcPct val="107000"/>
                        </a:lnSpc>
                        <a:spcAft>
                          <a:spcPts val="800"/>
                        </a:spcAft>
                        <a:buNone/>
                      </a:pPr>
                      <a:r>
                        <a:rPr lang="en-US" sz="1800" kern="100">
                          <a:effectLst/>
                        </a:rPr>
                        <a:t>Actual</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 </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11</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b="1" kern="100" dirty="0">
                          <a:effectLst/>
                        </a:rPr>
                        <a:t>11</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b="1" kern="100">
                          <a:effectLst/>
                        </a:rPr>
                        <a:t> </a:t>
                      </a:r>
                      <a:endParaRPr lang="en-US" sz="2400" b="1"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11</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extLst>
                  <a:ext uri="{0D108BD9-81ED-4DB2-BD59-A6C34878D82A}">
                    <a16:rowId xmlns:a16="http://schemas.microsoft.com/office/drawing/2014/main" val="412631797"/>
                  </a:ext>
                </a:extLst>
              </a:tr>
              <a:tr h="346064">
                <a:tc rowSpan="2">
                  <a:txBody>
                    <a:bodyPr/>
                    <a:lstStyle/>
                    <a:p>
                      <a:pPr marL="0" marR="0">
                        <a:lnSpc>
                          <a:spcPct val="107000"/>
                        </a:lnSpc>
                        <a:spcAft>
                          <a:spcPts val="800"/>
                        </a:spcAft>
                        <a:buNone/>
                      </a:pPr>
                      <a:r>
                        <a:rPr lang="en-US" sz="1800" kern="100">
                          <a:effectLst/>
                        </a:rPr>
                        <a:t>MoHE</a:t>
                      </a:r>
                      <a:endParaRPr lang="en-US" sz="2400" kern="100">
                        <a:effectLst/>
                      </a:endParaRPr>
                    </a:p>
                    <a:p>
                      <a:pPr marL="0" marR="0">
                        <a:lnSpc>
                          <a:spcPct val="107000"/>
                        </a:lnSpc>
                        <a:spcAft>
                          <a:spcPts val="800"/>
                        </a:spcAft>
                        <a:buNone/>
                      </a:pPr>
                      <a:r>
                        <a:rPr lang="en-US" sz="1800" kern="100">
                          <a:effectLst/>
                        </a:rPr>
                        <a:t>(Applied Accounting)</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Budget</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160</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100</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260</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 </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260</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extLst>
                  <a:ext uri="{0D108BD9-81ED-4DB2-BD59-A6C34878D82A}">
                    <a16:rowId xmlns:a16="http://schemas.microsoft.com/office/drawing/2014/main" val="1408698330"/>
                  </a:ext>
                </a:extLst>
              </a:tr>
              <a:tr h="704715">
                <a:tc vMerge="1">
                  <a:txBody>
                    <a:bodyPr/>
                    <a:lstStyle/>
                    <a:p>
                      <a:endParaRPr lang="en-US"/>
                    </a:p>
                  </a:txBody>
                  <a:tcPr/>
                </a:tc>
                <a:tc>
                  <a:txBody>
                    <a:bodyPr/>
                    <a:lstStyle/>
                    <a:p>
                      <a:pPr marL="0" marR="0" algn="ctr">
                        <a:lnSpc>
                          <a:spcPct val="107000"/>
                        </a:lnSpc>
                        <a:spcAft>
                          <a:spcPts val="800"/>
                        </a:spcAft>
                        <a:buNone/>
                      </a:pPr>
                      <a:r>
                        <a:rPr lang="en-US" sz="1800" kern="100">
                          <a:effectLst/>
                        </a:rPr>
                        <a:t>Actual</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b="1" kern="100" dirty="0">
                          <a:effectLst/>
                        </a:rPr>
                        <a:t>102</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b="1" kern="100" dirty="0">
                          <a:effectLst/>
                        </a:rPr>
                        <a:t> 126</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228</a:t>
                      </a:r>
                    </a:p>
                  </a:txBody>
                  <a:tcPr marL="65989" marR="65989" marT="0" marB="0"/>
                </a:tc>
                <a:tc>
                  <a:txBody>
                    <a:bodyPr/>
                    <a:lstStyle/>
                    <a:p>
                      <a:pPr marL="0" marR="0" algn="ctr">
                        <a:lnSpc>
                          <a:spcPct val="107000"/>
                        </a:lnSpc>
                        <a:spcAft>
                          <a:spcPts val="800"/>
                        </a:spcAft>
                        <a:buNone/>
                      </a:pPr>
                      <a:r>
                        <a:rPr lang="en-US" sz="1800" b="1" kern="100" dirty="0">
                          <a:effectLst/>
                        </a:rPr>
                        <a:t> </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228</a:t>
                      </a:r>
                    </a:p>
                  </a:txBody>
                  <a:tcPr marL="65989" marR="65989" marT="0" marB="0"/>
                </a:tc>
                <a:extLst>
                  <a:ext uri="{0D108BD9-81ED-4DB2-BD59-A6C34878D82A}">
                    <a16:rowId xmlns:a16="http://schemas.microsoft.com/office/drawing/2014/main" val="2571450946"/>
                  </a:ext>
                </a:extLst>
              </a:tr>
              <a:tr h="346064">
                <a:tc rowSpan="2">
                  <a:txBody>
                    <a:bodyPr/>
                    <a:lstStyle/>
                    <a:p>
                      <a:pPr marL="0" marR="0">
                        <a:lnSpc>
                          <a:spcPct val="107000"/>
                        </a:lnSpc>
                        <a:spcAft>
                          <a:spcPts val="800"/>
                        </a:spcAft>
                        <a:buNone/>
                      </a:pPr>
                      <a:r>
                        <a:rPr lang="en-US" sz="1800" kern="100">
                          <a:effectLst/>
                        </a:rPr>
                        <a:t>MoHE (Business Analytics)</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Budget</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40</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50</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90</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 </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dirty="0">
                          <a:effectLst/>
                        </a:rPr>
                        <a:t> 90</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extLst>
                  <a:ext uri="{0D108BD9-81ED-4DB2-BD59-A6C34878D82A}">
                    <a16:rowId xmlns:a16="http://schemas.microsoft.com/office/drawing/2014/main" val="977735620"/>
                  </a:ext>
                </a:extLst>
              </a:tr>
              <a:tr h="346064">
                <a:tc vMerge="1">
                  <a:txBody>
                    <a:bodyPr/>
                    <a:lstStyle/>
                    <a:p>
                      <a:endParaRPr lang="en-US"/>
                    </a:p>
                  </a:txBody>
                  <a:tcPr/>
                </a:tc>
                <a:tc>
                  <a:txBody>
                    <a:bodyPr/>
                    <a:lstStyle/>
                    <a:p>
                      <a:pPr marL="0" marR="0" algn="ctr">
                        <a:lnSpc>
                          <a:spcPct val="107000"/>
                        </a:lnSpc>
                        <a:spcAft>
                          <a:spcPts val="800"/>
                        </a:spcAft>
                        <a:buNone/>
                      </a:pPr>
                      <a:r>
                        <a:rPr lang="en-US" sz="1800" kern="100">
                          <a:effectLst/>
                        </a:rPr>
                        <a:t>Actual</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b="1" kern="100" dirty="0">
                          <a:effectLst/>
                        </a:rPr>
                        <a:t>48</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b="1" kern="100" dirty="0">
                          <a:effectLst/>
                        </a:rPr>
                        <a:t>66 </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114</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b="1" kern="100" dirty="0">
                          <a:effectLst/>
                        </a:rPr>
                        <a:t> </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b="1" kern="100" dirty="0">
                          <a:effectLst/>
                        </a:rPr>
                        <a:t>48</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extLst>
                  <a:ext uri="{0D108BD9-81ED-4DB2-BD59-A6C34878D82A}">
                    <a16:rowId xmlns:a16="http://schemas.microsoft.com/office/drawing/2014/main" val="3189099274"/>
                  </a:ext>
                </a:extLst>
              </a:tr>
              <a:tr h="346064">
                <a:tc rowSpan="2">
                  <a:txBody>
                    <a:bodyPr/>
                    <a:lstStyle/>
                    <a:p>
                      <a:pPr marL="0" marR="0">
                        <a:lnSpc>
                          <a:spcPct val="107000"/>
                        </a:lnSpc>
                        <a:spcAft>
                          <a:spcPts val="800"/>
                        </a:spcAft>
                        <a:buNone/>
                      </a:pPr>
                      <a:r>
                        <a:rPr lang="en-US" sz="1800" kern="100">
                          <a:effectLst/>
                        </a:rPr>
                        <a:t>TOTAL</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Budget</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350</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a:effectLst/>
                        </a:rPr>
                        <a:t>350</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dirty="0">
                          <a:effectLst/>
                        </a:rPr>
                        <a:t>650</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50</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750</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extLst>
                  <a:ext uri="{0D108BD9-81ED-4DB2-BD59-A6C34878D82A}">
                    <a16:rowId xmlns:a16="http://schemas.microsoft.com/office/drawing/2014/main" val="41169670"/>
                  </a:ext>
                </a:extLst>
              </a:tr>
              <a:tr h="346064">
                <a:tc vMerge="1">
                  <a:txBody>
                    <a:bodyPr/>
                    <a:lstStyle/>
                    <a:p>
                      <a:endParaRPr lang="en-US"/>
                    </a:p>
                  </a:txBody>
                  <a:tcPr/>
                </a:tc>
                <a:tc>
                  <a:txBody>
                    <a:bodyPr/>
                    <a:lstStyle/>
                    <a:p>
                      <a:pPr marL="0" marR="0" algn="ctr">
                        <a:lnSpc>
                          <a:spcPct val="107000"/>
                        </a:lnSpc>
                        <a:spcAft>
                          <a:spcPts val="800"/>
                        </a:spcAft>
                        <a:buNone/>
                      </a:pPr>
                      <a:r>
                        <a:rPr lang="en-US" sz="1800" kern="100">
                          <a:effectLst/>
                        </a:rPr>
                        <a:t>Actual</a:t>
                      </a:r>
                      <a:endParaRPr lang="en-US" sz="2400" kern="10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b="1" kern="100" dirty="0">
                          <a:effectLst/>
                        </a:rPr>
                        <a:t>273</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353</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626</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b="1" kern="100" dirty="0">
                          <a:effectLst/>
                        </a:rPr>
                        <a:t> </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tc>
                  <a:txBody>
                    <a:bodyPr/>
                    <a:lstStyle/>
                    <a:p>
                      <a:pPr marL="0" marR="0" algn="ctr">
                        <a:lnSpc>
                          <a:spcPct val="107000"/>
                        </a:lnSpc>
                        <a:spcAft>
                          <a:spcPts val="800"/>
                        </a:spcAft>
                        <a:buNone/>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626</a:t>
                      </a:r>
                      <a:endParaRPr lang="en-US" sz="24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65989" marR="65989" marT="0" marB="0"/>
                </a:tc>
                <a:extLst>
                  <a:ext uri="{0D108BD9-81ED-4DB2-BD59-A6C34878D82A}">
                    <a16:rowId xmlns:a16="http://schemas.microsoft.com/office/drawing/2014/main" val="3169210089"/>
                  </a:ext>
                </a:extLst>
              </a:tr>
            </a:tbl>
          </a:graphicData>
        </a:graphic>
      </p:graphicFrame>
    </p:spTree>
    <p:extLst>
      <p:ext uri="{BB962C8B-B14F-4D97-AF65-F5344CB8AC3E}">
        <p14:creationId xmlns:p14="http://schemas.microsoft.com/office/powerpoint/2010/main" val="534389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602B6-EBDA-43CA-0E91-F0C60B6ECE75}"/>
              </a:ext>
            </a:extLst>
          </p:cNvPr>
          <p:cNvSpPr>
            <a:spLocks noGrp="1"/>
          </p:cNvSpPr>
          <p:nvPr>
            <p:ph type="title"/>
          </p:nvPr>
        </p:nvSpPr>
        <p:spPr>
          <a:xfrm>
            <a:off x="3636065" y="516835"/>
            <a:ext cx="4919869" cy="686906"/>
          </a:xfrm>
        </p:spPr>
        <p:txBody>
          <a:bodyPr>
            <a:normAutofit fontScale="90000"/>
          </a:bodyPr>
          <a:lstStyle/>
          <a:p>
            <a:r>
              <a:rPr lang="en-US" b="1"/>
              <a:t>Examination Division</a:t>
            </a:r>
            <a:endParaRPr lang="en-US" b="1" dirty="0"/>
          </a:p>
        </p:txBody>
      </p:sp>
      <p:pic>
        <p:nvPicPr>
          <p:cNvPr id="5" name="Picture 4">
            <a:extLst>
              <a:ext uri="{FF2B5EF4-FFF2-40B4-BE49-F238E27FC236}">
                <a16:creationId xmlns:a16="http://schemas.microsoft.com/office/drawing/2014/main" id="{1E186F20-A84C-52A2-629D-F67B2A198DBA}"/>
              </a:ext>
            </a:extLst>
          </p:cNvPr>
          <p:cNvPicPr>
            <a:picLocks noChangeAspect="1"/>
          </p:cNvPicPr>
          <p:nvPr/>
        </p:nvPicPr>
        <p:blipFill>
          <a:blip r:embed="rId2"/>
          <a:stretch>
            <a:fillRect/>
          </a:stretch>
        </p:blipFill>
        <p:spPr>
          <a:xfrm>
            <a:off x="1643743" y="1621451"/>
            <a:ext cx="8229600" cy="4508023"/>
          </a:xfrm>
          <a:prstGeom prst="rect">
            <a:avLst/>
          </a:prstGeom>
        </p:spPr>
      </p:pic>
    </p:spTree>
    <p:extLst>
      <p:ext uri="{BB962C8B-B14F-4D97-AF65-F5344CB8AC3E}">
        <p14:creationId xmlns:p14="http://schemas.microsoft.com/office/powerpoint/2010/main" val="451494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58630-E8CA-49C8-9970-22A895217F1E}"/>
              </a:ext>
            </a:extLst>
          </p:cNvPr>
          <p:cNvSpPr>
            <a:spLocks noGrp="1"/>
          </p:cNvSpPr>
          <p:nvPr>
            <p:ph type="title"/>
          </p:nvPr>
        </p:nvSpPr>
        <p:spPr>
          <a:xfrm>
            <a:off x="2109952" y="252695"/>
            <a:ext cx="10082048" cy="999742"/>
          </a:xfrm>
        </p:spPr>
        <p:txBody>
          <a:bodyPr>
            <a:normAutofit/>
          </a:bodyPr>
          <a:lstStyle/>
          <a:p>
            <a:r>
              <a:rPr lang="en-US" dirty="0">
                <a:latin typeface="Calibri" panose="020F0502020204030204" pitchFamily="34" charset="0"/>
                <a:cs typeface="Calibri" panose="020F0502020204030204" pitchFamily="34" charset="0"/>
              </a:rPr>
              <a:t>Status – Intake 14</a:t>
            </a:r>
          </a:p>
        </p:txBody>
      </p:sp>
      <p:graphicFrame>
        <p:nvGraphicFramePr>
          <p:cNvPr id="4" name="Chart 3">
            <a:extLst>
              <a:ext uri="{FF2B5EF4-FFF2-40B4-BE49-F238E27FC236}">
                <a16:creationId xmlns:a16="http://schemas.microsoft.com/office/drawing/2014/main" id="{18C6CF5D-AF6A-BDEA-CC04-D4DEDA7A3758}"/>
              </a:ext>
            </a:extLst>
          </p:cNvPr>
          <p:cNvGraphicFramePr>
            <a:graphicFrameLocks/>
          </p:cNvGraphicFramePr>
          <p:nvPr>
            <p:extLst>
              <p:ext uri="{D42A27DB-BD31-4B8C-83A1-F6EECF244321}">
                <p14:modId xmlns:p14="http://schemas.microsoft.com/office/powerpoint/2010/main" val="3172648654"/>
              </p:ext>
            </p:extLst>
          </p:nvPr>
        </p:nvGraphicFramePr>
        <p:xfrm>
          <a:off x="6301409" y="1252438"/>
          <a:ext cx="5387009" cy="493964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Table 4">
            <a:extLst>
              <a:ext uri="{FF2B5EF4-FFF2-40B4-BE49-F238E27FC236}">
                <a16:creationId xmlns:a16="http://schemas.microsoft.com/office/drawing/2014/main" id="{010CA164-37C0-8834-BA0E-523F069AF51C}"/>
              </a:ext>
            </a:extLst>
          </p:cNvPr>
          <p:cNvGraphicFramePr>
            <a:graphicFrameLocks noGrp="1"/>
          </p:cNvGraphicFramePr>
          <p:nvPr>
            <p:extLst>
              <p:ext uri="{D42A27DB-BD31-4B8C-83A1-F6EECF244321}">
                <p14:modId xmlns:p14="http://schemas.microsoft.com/office/powerpoint/2010/main" val="1255809214"/>
              </p:ext>
            </p:extLst>
          </p:nvPr>
        </p:nvGraphicFramePr>
        <p:xfrm>
          <a:off x="417442" y="2057401"/>
          <a:ext cx="5473150" cy="3478695"/>
        </p:xfrm>
        <a:graphic>
          <a:graphicData uri="http://schemas.openxmlformats.org/drawingml/2006/table">
            <a:tbl>
              <a:tblPr>
                <a:tableStyleId>{5C22544A-7EE6-4342-B048-85BDC9FD1C3A}</a:tableStyleId>
              </a:tblPr>
              <a:tblGrid>
                <a:gridCol w="2817062">
                  <a:extLst>
                    <a:ext uri="{9D8B030D-6E8A-4147-A177-3AD203B41FA5}">
                      <a16:colId xmlns:a16="http://schemas.microsoft.com/office/drawing/2014/main" val="68735297"/>
                    </a:ext>
                  </a:extLst>
                </a:gridCol>
                <a:gridCol w="1931700">
                  <a:extLst>
                    <a:ext uri="{9D8B030D-6E8A-4147-A177-3AD203B41FA5}">
                      <a16:colId xmlns:a16="http://schemas.microsoft.com/office/drawing/2014/main" val="3769843993"/>
                    </a:ext>
                  </a:extLst>
                </a:gridCol>
                <a:gridCol w="724388">
                  <a:extLst>
                    <a:ext uri="{9D8B030D-6E8A-4147-A177-3AD203B41FA5}">
                      <a16:colId xmlns:a16="http://schemas.microsoft.com/office/drawing/2014/main" val="484996943"/>
                    </a:ext>
                  </a:extLst>
                </a:gridCol>
              </a:tblGrid>
              <a:tr h="695739">
                <a:tc>
                  <a:txBody>
                    <a:bodyPr/>
                    <a:lstStyle/>
                    <a:p>
                      <a:pPr algn="ctr" fontAlgn="ctr"/>
                      <a:r>
                        <a:rPr lang="en-US" sz="1800" b="1" u="none" strike="noStrike" dirty="0">
                          <a:effectLst/>
                        </a:rPr>
                        <a:t>Description</a:t>
                      </a:r>
                      <a:endParaRPr lang="en-US" sz="18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en-US" sz="1800" b="1" u="none" strike="noStrike" dirty="0">
                          <a:effectLst/>
                        </a:rPr>
                        <a:t>Student Count</a:t>
                      </a:r>
                      <a:endParaRPr lang="en-US" sz="18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en-US" sz="1800" b="1" u="none" strike="noStrike" dirty="0">
                          <a:effectLst/>
                        </a:rPr>
                        <a:t>%</a:t>
                      </a:r>
                      <a:endParaRPr lang="en-US" sz="1800" b="1"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506975554"/>
                  </a:ext>
                </a:extLst>
              </a:tr>
              <a:tr h="695739">
                <a:tc>
                  <a:txBody>
                    <a:bodyPr/>
                    <a:lstStyle/>
                    <a:p>
                      <a:pPr algn="l" fontAlgn="ctr"/>
                      <a:r>
                        <a:rPr lang="en-US" sz="1800" u="none" strike="noStrike" dirty="0">
                          <a:effectLst/>
                        </a:rPr>
                        <a:t>Completed (with 14C)</a:t>
                      </a:r>
                      <a:endParaRPr lang="en-US"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en-US" sz="1800" u="none" strike="noStrike">
                          <a:effectLst/>
                        </a:rPr>
                        <a:t>211</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r" fontAlgn="ctr"/>
                      <a:r>
                        <a:rPr lang="en-US" sz="1800" u="none" strike="noStrike">
                          <a:effectLst/>
                        </a:rPr>
                        <a:t>64.3</a:t>
                      </a:r>
                      <a:endParaRPr lang="en-US" sz="1800" b="1"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580249326"/>
                  </a:ext>
                </a:extLst>
              </a:tr>
              <a:tr h="695739">
                <a:tc>
                  <a:txBody>
                    <a:bodyPr/>
                    <a:lstStyle/>
                    <a:p>
                      <a:pPr algn="l" fontAlgn="ctr"/>
                      <a:r>
                        <a:rPr lang="en-US" sz="1800" u="none" strike="noStrike" dirty="0">
                          <a:effectLst/>
                        </a:rPr>
                        <a:t>In-Progress</a:t>
                      </a:r>
                      <a:endParaRPr lang="en-US"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en-US" sz="1800" u="none" strike="noStrike" dirty="0">
                          <a:effectLst/>
                        </a:rPr>
                        <a:t>75</a:t>
                      </a:r>
                      <a:endParaRPr lang="en-US"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r" fontAlgn="ctr"/>
                      <a:r>
                        <a:rPr lang="en-US" sz="1800" u="none" strike="noStrike">
                          <a:effectLst/>
                        </a:rPr>
                        <a:t>22.9</a:t>
                      </a:r>
                      <a:endParaRPr lang="en-US" sz="1800" b="1"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564891760"/>
                  </a:ext>
                </a:extLst>
              </a:tr>
              <a:tr h="695739">
                <a:tc>
                  <a:txBody>
                    <a:bodyPr/>
                    <a:lstStyle/>
                    <a:p>
                      <a:pPr algn="l" fontAlgn="ctr"/>
                      <a:r>
                        <a:rPr lang="en-US" sz="1800" u="none" strike="noStrike">
                          <a:effectLst/>
                        </a:rPr>
                        <a:t>Confirmed Dropouts</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r>
                        <a:rPr lang="en-US" sz="1800" u="none" strike="noStrike" dirty="0">
                          <a:effectLst/>
                        </a:rPr>
                        <a:t>42</a:t>
                      </a:r>
                      <a:endParaRPr lang="en-US"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r" fontAlgn="ctr"/>
                      <a:r>
                        <a:rPr lang="en-US" sz="1800" u="none" strike="noStrike">
                          <a:effectLst/>
                        </a:rPr>
                        <a:t>12.8</a:t>
                      </a:r>
                      <a:endParaRPr lang="en-US" sz="1800" b="1"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296450572"/>
                  </a:ext>
                </a:extLst>
              </a:tr>
              <a:tr h="695739">
                <a:tc>
                  <a:txBody>
                    <a:bodyPr/>
                    <a:lstStyle/>
                    <a:p>
                      <a:pPr algn="l" fontAlgn="ctr"/>
                      <a:r>
                        <a:rPr lang="en-US" sz="1800" u="none" strike="noStrike">
                          <a:effectLst/>
                        </a:rPr>
                        <a:t>Total Student Count</a:t>
                      </a:r>
                      <a:endParaRPr lang="en-US" sz="18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r>
                        <a:rPr lang="en-US" sz="1800" u="none" strike="noStrike" dirty="0">
                          <a:effectLst/>
                        </a:rPr>
                        <a:t>328</a:t>
                      </a:r>
                      <a:endParaRPr lang="en-US" sz="1800" b="0" i="0" u="none" strike="noStrike" dirty="0">
                        <a:solidFill>
                          <a:srgbClr val="000000"/>
                        </a:solidFill>
                        <a:effectLst/>
                        <a:latin typeface="Calibri" panose="020F0502020204030204" pitchFamily="34" charset="0"/>
                      </a:endParaRPr>
                    </a:p>
                  </a:txBody>
                  <a:tcPr marL="6350" marR="6350" marT="6350" marB="0" anchor="ctr"/>
                </a:tc>
                <a:tc>
                  <a:txBody>
                    <a:bodyPr/>
                    <a:lstStyle/>
                    <a:p>
                      <a:pPr algn="r" fontAlgn="ctr"/>
                      <a:r>
                        <a:rPr lang="en-US" sz="1800" u="none" strike="noStrike" dirty="0">
                          <a:effectLst/>
                        </a:rPr>
                        <a:t>100</a:t>
                      </a:r>
                      <a:endParaRPr lang="en-US" sz="1800" b="1" i="0" u="none" strike="noStrike" dirty="0">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206029322"/>
                  </a:ext>
                </a:extLst>
              </a:tr>
            </a:tbl>
          </a:graphicData>
        </a:graphic>
      </p:graphicFrame>
    </p:spTree>
    <p:extLst>
      <p:ext uri="{BB962C8B-B14F-4D97-AF65-F5344CB8AC3E}">
        <p14:creationId xmlns:p14="http://schemas.microsoft.com/office/powerpoint/2010/main" val="3984246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74FFE-B2DD-AE7E-57C5-A118A30A0823}"/>
              </a:ext>
            </a:extLst>
          </p:cNvPr>
          <p:cNvSpPr>
            <a:spLocks noGrp="1"/>
          </p:cNvSpPr>
          <p:nvPr>
            <p:ph type="title"/>
          </p:nvPr>
        </p:nvSpPr>
        <p:spPr>
          <a:xfrm>
            <a:off x="2536372" y="252864"/>
            <a:ext cx="4027714" cy="1325563"/>
          </a:xfrm>
        </p:spPr>
        <p:txBody>
          <a:bodyPr/>
          <a:lstStyle/>
          <a:p>
            <a:r>
              <a:rPr lang="en-US" b="1" dirty="0"/>
              <a:t>Intake 15</a:t>
            </a:r>
          </a:p>
        </p:txBody>
      </p:sp>
      <p:graphicFrame>
        <p:nvGraphicFramePr>
          <p:cNvPr id="6" name="Content Placeholder 5">
            <a:extLst>
              <a:ext uri="{FF2B5EF4-FFF2-40B4-BE49-F238E27FC236}">
                <a16:creationId xmlns:a16="http://schemas.microsoft.com/office/drawing/2014/main" id="{DD81D475-9D18-F7BD-271B-CE47CDC79E5F}"/>
              </a:ext>
            </a:extLst>
          </p:cNvPr>
          <p:cNvGraphicFramePr>
            <a:graphicFrameLocks noGrp="1"/>
          </p:cNvGraphicFramePr>
          <p:nvPr>
            <p:ph idx="1"/>
            <p:extLst>
              <p:ext uri="{D42A27DB-BD31-4B8C-83A1-F6EECF244321}">
                <p14:modId xmlns:p14="http://schemas.microsoft.com/office/powerpoint/2010/main" val="1133778065"/>
              </p:ext>
            </p:extLst>
          </p:nvPr>
        </p:nvGraphicFramePr>
        <p:xfrm>
          <a:off x="377687" y="1686063"/>
          <a:ext cx="5188227" cy="4088571"/>
        </p:xfrm>
        <a:graphic>
          <a:graphicData uri="http://schemas.openxmlformats.org/drawingml/2006/table">
            <a:tbl>
              <a:tblPr/>
              <a:tblGrid>
                <a:gridCol w="2984079">
                  <a:extLst>
                    <a:ext uri="{9D8B030D-6E8A-4147-A177-3AD203B41FA5}">
                      <a16:colId xmlns:a16="http://schemas.microsoft.com/office/drawing/2014/main" val="1238195940"/>
                    </a:ext>
                  </a:extLst>
                </a:gridCol>
                <a:gridCol w="2204148">
                  <a:extLst>
                    <a:ext uri="{9D8B030D-6E8A-4147-A177-3AD203B41FA5}">
                      <a16:colId xmlns:a16="http://schemas.microsoft.com/office/drawing/2014/main" val="2708114479"/>
                    </a:ext>
                  </a:extLst>
                </a:gridCol>
              </a:tblGrid>
              <a:tr h="374009">
                <a:tc>
                  <a:txBody>
                    <a:bodyPr/>
                    <a:lstStyle/>
                    <a:p>
                      <a:pPr algn="ctr" fontAlgn="ctr"/>
                      <a:r>
                        <a:rPr lang="en-US" sz="2400" b="1" i="0" u="none" strike="noStrike">
                          <a:solidFill>
                            <a:srgbClr val="000000"/>
                          </a:solidFill>
                          <a:effectLst/>
                          <a:latin typeface="Calibri" panose="020F0502020204030204" pitchFamily="34" charset="0"/>
                        </a:rPr>
                        <a:t>Category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2400" b="1" i="0" u="none" strike="noStrike">
                          <a:solidFill>
                            <a:srgbClr val="000000"/>
                          </a:solidFill>
                          <a:effectLst/>
                          <a:latin typeface="Calibri" panose="020F0502020204030204" pitchFamily="34" charset="0"/>
                        </a:rPr>
                        <a:t>Count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036439856"/>
                  </a:ext>
                </a:extLst>
              </a:tr>
              <a:tr h="374009">
                <a:tc>
                  <a:txBody>
                    <a:bodyPr/>
                    <a:lstStyle/>
                    <a:p>
                      <a:pPr algn="l" fontAlgn="ctr"/>
                      <a:r>
                        <a:rPr lang="en-US" sz="2400" b="0" i="0" u="none" strike="noStrike">
                          <a:solidFill>
                            <a:srgbClr val="000000"/>
                          </a:solidFill>
                          <a:effectLst/>
                          <a:latin typeface="Calibri" panose="020F0502020204030204" pitchFamily="34" charset="0"/>
                        </a:rPr>
                        <a:t>2024 Convocation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2400" b="0" i="0" u="none" strike="noStrike">
                          <a:solidFill>
                            <a:srgbClr val="000000"/>
                          </a:solidFill>
                          <a:effectLst/>
                          <a:latin typeface="Calibri" panose="020F0502020204030204" pitchFamily="34" charset="0"/>
                        </a:rPr>
                        <a:t>37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02541444"/>
                  </a:ext>
                </a:extLst>
              </a:tr>
              <a:tr h="741636">
                <a:tc>
                  <a:txBody>
                    <a:bodyPr/>
                    <a:lstStyle/>
                    <a:p>
                      <a:pPr algn="l" fontAlgn="ctr"/>
                      <a:r>
                        <a:rPr lang="en-US" sz="2400" b="0" i="0" u="none" strike="noStrike">
                          <a:solidFill>
                            <a:srgbClr val="000000"/>
                          </a:solidFill>
                          <a:effectLst/>
                          <a:latin typeface="Calibri" panose="020F0502020204030204" pitchFamily="34" charset="0"/>
                        </a:rPr>
                        <a:t>2025 Convocation Expected(Sp)</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2400" b="0" i="0" u="none" strike="noStrike">
                          <a:solidFill>
                            <a:srgbClr val="000000"/>
                          </a:solidFill>
                          <a:effectLst/>
                          <a:latin typeface="Calibri" panose="020F0502020204030204" pitchFamily="34" charset="0"/>
                        </a:rPr>
                        <a:t>146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03089146"/>
                  </a:ext>
                </a:extLst>
              </a:tr>
              <a:tr h="741636">
                <a:tc>
                  <a:txBody>
                    <a:bodyPr/>
                    <a:lstStyle/>
                    <a:p>
                      <a:pPr algn="l" fontAlgn="ctr"/>
                      <a:r>
                        <a:rPr lang="en-US" sz="2400" b="0" i="0" u="none" strike="noStrike">
                          <a:solidFill>
                            <a:srgbClr val="000000"/>
                          </a:solidFill>
                          <a:effectLst/>
                          <a:latin typeface="Calibri" panose="020F0502020204030204" pitchFamily="34" charset="0"/>
                        </a:rPr>
                        <a:t>2025 Convocation Expected(Gen)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2400" b="0" i="0" u="none" strike="noStrike">
                          <a:solidFill>
                            <a:srgbClr val="000000"/>
                          </a:solidFill>
                          <a:effectLst/>
                          <a:latin typeface="Calibri" panose="020F0502020204030204" pitchFamily="34" charset="0"/>
                        </a:rPr>
                        <a:t>73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73544"/>
                  </a:ext>
                </a:extLst>
              </a:tr>
              <a:tr h="741636">
                <a:tc>
                  <a:txBody>
                    <a:bodyPr/>
                    <a:lstStyle/>
                    <a:p>
                      <a:pPr algn="l" fontAlgn="ctr"/>
                      <a:r>
                        <a:rPr lang="en-US" sz="2400" b="0" i="0" u="none" strike="noStrike">
                          <a:solidFill>
                            <a:srgbClr val="000000"/>
                          </a:solidFill>
                          <a:effectLst/>
                          <a:latin typeface="Calibri" panose="020F0502020204030204" pitchFamily="34" charset="0"/>
                        </a:rPr>
                        <a:t>Inactive / Dropped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2400" b="0" i="0" u="none" strike="noStrike">
                          <a:solidFill>
                            <a:srgbClr val="000000"/>
                          </a:solidFill>
                          <a:effectLst/>
                          <a:latin typeface="Calibri" panose="020F0502020204030204" pitchFamily="34" charset="0"/>
                        </a:rPr>
                        <a:t>45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490172"/>
                  </a:ext>
                </a:extLst>
              </a:tr>
              <a:tr h="741636">
                <a:tc>
                  <a:txBody>
                    <a:bodyPr/>
                    <a:lstStyle/>
                    <a:p>
                      <a:pPr algn="l" fontAlgn="ctr"/>
                      <a:r>
                        <a:rPr lang="en-US" sz="2400" b="0" i="0" u="none" strike="noStrike">
                          <a:solidFill>
                            <a:srgbClr val="000000"/>
                          </a:solidFill>
                          <a:effectLst/>
                          <a:latin typeface="Calibri" panose="020F0502020204030204" pitchFamily="34" charset="0"/>
                        </a:rPr>
                        <a:t>Active / In Progress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2400" b="0" i="0" u="none" strike="noStrike">
                          <a:solidFill>
                            <a:srgbClr val="000000"/>
                          </a:solidFill>
                          <a:effectLst/>
                          <a:latin typeface="Calibri" panose="020F0502020204030204" pitchFamily="34" charset="0"/>
                        </a:rPr>
                        <a:t>63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76606677"/>
                  </a:ext>
                </a:extLst>
              </a:tr>
              <a:tr h="374009">
                <a:tc>
                  <a:txBody>
                    <a:bodyPr/>
                    <a:lstStyle/>
                    <a:p>
                      <a:pPr algn="l" fontAlgn="ctr"/>
                      <a:r>
                        <a:rPr lang="en-US" sz="2400" b="1" i="0" u="none" strike="noStrike">
                          <a:solidFill>
                            <a:srgbClr val="000000"/>
                          </a:solidFill>
                          <a:effectLst/>
                          <a:latin typeface="Calibri" panose="020F0502020204030204" pitchFamily="34" charset="0"/>
                        </a:rPr>
                        <a:t>Total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2400" b="1" i="0" u="none" strike="noStrike" dirty="0">
                          <a:solidFill>
                            <a:srgbClr val="000000"/>
                          </a:solidFill>
                          <a:effectLst/>
                          <a:latin typeface="Calibri" panose="020F0502020204030204" pitchFamily="34" charset="0"/>
                        </a:rPr>
                        <a:t>364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02479182"/>
                  </a:ext>
                </a:extLst>
              </a:tr>
            </a:tbl>
          </a:graphicData>
        </a:graphic>
      </p:graphicFrame>
      <p:graphicFrame>
        <p:nvGraphicFramePr>
          <p:cNvPr id="7" name="Chart 6">
            <a:extLst>
              <a:ext uri="{FF2B5EF4-FFF2-40B4-BE49-F238E27FC236}">
                <a16:creationId xmlns:a16="http://schemas.microsoft.com/office/drawing/2014/main" id="{A8D973F9-4FDF-02FE-1556-190C46142D03}"/>
              </a:ext>
            </a:extLst>
          </p:cNvPr>
          <p:cNvGraphicFramePr>
            <a:graphicFrameLocks/>
          </p:cNvGraphicFramePr>
          <p:nvPr>
            <p:extLst>
              <p:ext uri="{D42A27DB-BD31-4B8C-83A1-F6EECF244321}">
                <p14:modId xmlns:p14="http://schemas.microsoft.com/office/powerpoint/2010/main" val="45009425"/>
              </p:ext>
            </p:extLst>
          </p:nvPr>
        </p:nvGraphicFramePr>
        <p:xfrm>
          <a:off x="5565913" y="1242392"/>
          <a:ext cx="6248399" cy="463987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19715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9EBF9-D07F-D81B-2A71-8C28F3A438C2}"/>
              </a:ext>
            </a:extLst>
          </p:cNvPr>
          <p:cNvSpPr>
            <a:spLocks noGrp="1"/>
          </p:cNvSpPr>
          <p:nvPr>
            <p:ph type="title"/>
          </p:nvPr>
        </p:nvSpPr>
        <p:spPr>
          <a:xfrm>
            <a:off x="2136912" y="365126"/>
            <a:ext cx="9216887" cy="926962"/>
          </a:xfrm>
        </p:spPr>
        <p:txBody>
          <a:bodyPr/>
          <a:lstStyle/>
          <a:p>
            <a:r>
              <a:rPr lang="en-US" b="1" dirty="0"/>
              <a:t>Intake 16</a:t>
            </a:r>
          </a:p>
        </p:txBody>
      </p:sp>
      <p:graphicFrame>
        <p:nvGraphicFramePr>
          <p:cNvPr id="5" name="Chart 4">
            <a:extLst>
              <a:ext uri="{FF2B5EF4-FFF2-40B4-BE49-F238E27FC236}">
                <a16:creationId xmlns:a16="http://schemas.microsoft.com/office/drawing/2014/main" id="{484A3E1B-891E-D0A2-6138-1C9DBCF3208B}"/>
              </a:ext>
            </a:extLst>
          </p:cNvPr>
          <p:cNvGraphicFramePr>
            <a:graphicFrameLocks/>
          </p:cNvGraphicFramePr>
          <p:nvPr>
            <p:extLst>
              <p:ext uri="{D42A27DB-BD31-4B8C-83A1-F6EECF244321}">
                <p14:modId xmlns:p14="http://schemas.microsoft.com/office/powerpoint/2010/main" val="2897319042"/>
              </p:ext>
            </p:extLst>
          </p:nvPr>
        </p:nvGraphicFramePr>
        <p:xfrm>
          <a:off x="5108713" y="1033671"/>
          <a:ext cx="6440557" cy="47807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ontent Placeholder 7">
            <a:extLst>
              <a:ext uri="{FF2B5EF4-FFF2-40B4-BE49-F238E27FC236}">
                <a16:creationId xmlns:a16="http://schemas.microsoft.com/office/drawing/2014/main" id="{6710AB59-70B8-C2C4-286A-32B0E3D95807}"/>
              </a:ext>
            </a:extLst>
          </p:cNvPr>
          <p:cNvGraphicFramePr>
            <a:graphicFrameLocks noGrp="1"/>
          </p:cNvGraphicFramePr>
          <p:nvPr>
            <p:ph idx="1"/>
            <p:extLst>
              <p:ext uri="{D42A27DB-BD31-4B8C-83A1-F6EECF244321}">
                <p14:modId xmlns:p14="http://schemas.microsoft.com/office/powerpoint/2010/main" val="2375986867"/>
              </p:ext>
            </p:extLst>
          </p:nvPr>
        </p:nvGraphicFramePr>
        <p:xfrm>
          <a:off x="976794" y="2224536"/>
          <a:ext cx="4002709" cy="3215726"/>
        </p:xfrm>
        <a:graphic>
          <a:graphicData uri="http://schemas.openxmlformats.org/drawingml/2006/table">
            <a:tbl>
              <a:tblPr>
                <a:tableStyleId>{5C22544A-7EE6-4342-B048-85BDC9FD1C3A}</a:tableStyleId>
              </a:tblPr>
              <a:tblGrid>
                <a:gridCol w="2169536">
                  <a:extLst>
                    <a:ext uri="{9D8B030D-6E8A-4147-A177-3AD203B41FA5}">
                      <a16:colId xmlns:a16="http://schemas.microsoft.com/office/drawing/2014/main" val="3576107155"/>
                    </a:ext>
                  </a:extLst>
                </a:gridCol>
                <a:gridCol w="975450">
                  <a:extLst>
                    <a:ext uri="{9D8B030D-6E8A-4147-A177-3AD203B41FA5}">
                      <a16:colId xmlns:a16="http://schemas.microsoft.com/office/drawing/2014/main" val="3639189340"/>
                    </a:ext>
                  </a:extLst>
                </a:gridCol>
                <a:gridCol w="857723">
                  <a:extLst>
                    <a:ext uri="{9D8B030D-6E8A-4147-A177-3AD203B41FA5}">
                      <a16:colId xmlns:a16="http://schemas.microsoft.com/office/drawing/2014/main" val="3720850682"/>
                    </a:ext>
                  </a:extLst>
                </a:gridCol>
              </a:tblGrid>
              <a:tr h="522943">
                <a:tc>
                  <a:txBody>
                    <a:bodyPr/>
                    <a:lstStyle/>
                    <a:p>
                      <a:pPr algn="l" fontAlgn="ctr"/>
                      <a:r>
                        <a:rPr lang="en-US" sz="2000" u="none" strike="noStrike">
                          <a:effectLst/>
                        </a:rPr>
                        <a:t>Summary – Intake 16</a:t>
                      </a:r>
                      <a:endParaRPr lang="en-US" sz="2000" b="1" i="0" u="none" strike="noStrike">
                        <a:solidFill>
                          <a:srgbClr val="000000"/>
                        </a:solidFill>
                        <a:effectLst/>
                        <a:latin typeface="Aptos Narrow" panose="020B0004020202020204" pitchFamily="34" charset="0"/>
                      </a:endParaRPr>
                    </a:p>
                  </a:txBody>
                  <a:tcPr marL="6350" marR="6350" marT="6350" marB="0" anchor="ctr"/>
                </a:tc>
                <a:tc>
                  <a:txBody>
                    <a:bodyPr/>
                    <a:lstStyle/>
                    <a:p>
                      <a:pPr algn="l" fontAlgn="b"/>
                      <a:endParaRPr lang="en-US" sz="18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endParaRPr lang="en-US" sz="18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083890709"/>
                  </a:ext>
                </a:extLst>
              </a:tr>
              <a:tr h="433296">
                <a:tc>
                  <a:txBody>
                    <a:bodyPr/>
                    <a:lstStyle/>
                    <a:p>
                      <a:pPr algn="l" fontAlgn="ctr"/>
                      <a:r>
                        <a:rPr lang="en-US" sz="1800" b="1" u="none" strike="noStrike" dirty="0">
                          <a:effectLst/>
                        </a:rPr>
                        <a:t>Category</a:t>
                      </a:r>
                      <a:endParaRPr lang="en-US" sz="1800" b="1"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ctr"/>
                      <a:r>
                        <a:rPr lang="en-US" sz="1800" b="1" u="none" strike="noStrike">
                          <a:effectLst/>
                        </a:rPr>
                        <a:t>Count</a:t>
                      </a:r>
                      <a:endParaRPr lang="en-US" sz="1800" b="1"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US" sz="1800" b="1" u="none" strike="noStrike">
                          <a:effectLst/>
                        </a:rPr>
                        <a:t>%</a:t>
                      </a:r>
                      <a:endParaRPr lang="en-US" sz="1800" b="1"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141742915"/>
                  </a:ext>
                </a:extLst>
              </a:tr>
              <a:tr h="433296">
                <a:tc>
                  <a:txBody>
                    <a:bodyPr/>
                    <a:lstStyle/>
                    <a:p>
                      <a:pPr algn="l" fontAlgn="ctr"/>
                      <a:r>
                        <a:rPr lang="en-US" sz="1800" b="1" u="none" strike="noStrike" dirty="0">
                          <a:effectLst/>
                        </a:rPr>
                        <a:t>2024 Convocation</a:t>
                      </a:r>
                      <a:endParaRPr lang="en-US" sz="1800" b="1"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ctr" fontAlgn="ctr"/>
                      <a:r>
                        <a:rPr lang="en-US" sz="1800" b="1" u="none" strike="noStrike" dirty="0">
                          <a:effectLst/>
                        </a:rPr>
                        <a:t>52</a:t>
                      </a:r>
                      <a:endParaRPr lang="en-US" sz="1800" b="1"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r" fontAlgn="b"/>
                      <a:r>
                        <a:rPr lang="en-US" sz="1800" b="1" u="none" strike="noStrike">
                          <a:effectLst/>
                        </a:rPr>
                        <a:t>10.5</a:t>
                      </a:r>
                      <a:endParaRPr lang="en-US" sz="18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217555659"/>
                  </a:ext>
                </a:extLst>
              </a:tr>
              <a:tr h="433296">
                <a:tc>
                  <a:txBody>
                    <a:bodyPr/>
                    <a:lstStyle/>
                    <a:p>
                      <a:pPr algn="l" fontAlgn="ctr"/>
                      <a:r>
                        <a:rPr lang="en-US" sz="1800" b="1" u="none" strike="noStrike">
                          <a:effectLst/>
                        </a:rPr>
                        <a:t>Active</a:t>
                      </a:r>
                      <a:endParaRPr lang="en-US" sz="1800" b="1"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US" sz="1800" b="1" u="none" strike="noStrike" dirty="0">
                          <a:effectLst/>
                        </a:rPr>
                        <a:t>349</a:t>
                      </a:r>
                      <a:endParaRPr lang="en-US" sz="1800" b="1" i="0" u="none" strike="noStrike" dirty="0">
                        <a:solidFill>
                          <a:srgbClr val="000000"/>
                        </a:solidFill>
                        <a:effectLst/>
                        <a:latin typeface="Aptos Narrow" panose="020B0004020202020204" pitchFamily="34" charset="0"/>
                      </a:endParaRPr>
                    </a:p>
                  </a:txBody>
                  <a:tcPr marL="6350" marR="6350" marT="6350" marB="0" anchor="ctr"/>
                </a:tc>
                <a:tc>
                  <a:txBody>
                    <a:bodyPr/>
                    <a:lstStyle/>
                    <a:p>
                      <a:pPr algn="r" fontAlgn="b"/>
                      <a:r>
                        <a:rPr lang="en-US" sz="1800" b="1" u="none" strike="noStrike">
                          <a:effectLst/>
                        </a:rPr>
                        <a:t>70.8</a:t>
                      </a:r>
                      <a:endParaRPr lang="en-US" sz="18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331327401"/>
                  </a:ext>
                </a:extLst>
              </a:tr>
              <a:tr h="433296">
                <a:tc>
                  <a:txBody>
                    <a:bodyPr/>
                    <a:lstStyle/>
                    <a:p>
                      <a:pPr algn="l" fontAlgn="ctr"/>
                      <a:r>
                        <a:rPr lang="en-US" sz="1800" b="1" u="none" strike="noStrike">
                          <a:effectLst/>
                        </a:rPr>
                        <a:t>Inactive</a:t>
                      </a:r>
                      <a:endParaRPr lang="en-US" sz="1800" b="1"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US" sz="1800" b="1" u="none" strike="noStrike">
                          <a:effectLst/>
                        </a:rPr>
                        <a:t>78</a:t>
                      </a:r>
                      <a:endParaRPr lang="en-US" sz="1800" b="1" i="0" u="none" strike="noStrike">
                        <a:solidFill>
                          <a:srgbClr val="000000"/>
                        </a:solidFill>
                        <a:effectLst/>
                        <a:latin typeface="Aptos Narrow" panose="020B0004020202020204" pitchFamily="34" charset="0"/>
                      </a:endParaRPr>
                    </a:p>
                  </a:txBody>
                  <a:tcPr marL="6350" marR="6350" marT="6350" marB="0" anchor="ctr"/>
                </a:tc>
                <a:tc>
                  <a:txBody>
                    <a:bodyPr/>
                    <a:lstStyle/>
                    <a:p>
                      <a:pPr algn="r" fontAlgn="b"/>
                      <a:r>
                        <a:rPr lang="en-US" sz="1800" b="1" u="none" strike="noStrike" dirty="0">
                          <a:effectLst/>
                        </a:rPr>
                        <a:t>15.8</a:t>
                      </a:r>
                      <a:endParaRPr lang="en-US" sz="1800" b="1"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468886502"/>
                  </a:ext>
                </a:extLst>
              </a:tr>
              <a:tr h="433296">
                <a:tc>
                  <a:txBody>
                    <a:bodyPr/>
                    <a:lstStyle/>
                    <a:p>
                      <a:pPr algn="l" fontAlgn="ctr"/>
                      <a:r>
                        <a:rPr lang="en-US" sz="1800" b="1" u="none" strike="noStrike">
                          <a:effectLst/>
                        </a:rPr>
                        <a:t>Dropped</a:t>
                      </a:r>
                      <a:endParaRPr lang="en-US" sz="1800" b="1"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US" sz="1800" b="1" u="none" strike="noStrike">
                          <a:effectLst/>
                        </a:rPr>
                        <a:t>14</a:t>
                      </a:r>
                      <a:endParaRPr lang="en-US" sz="1800" b="1" i="0" u="none" strike="noStrike">
                        <a:solidFill>
                          <a:srgbClr val="000000"/>
                        </a:solidFill>
                        <a:effectLst/>
                        <a:latin typeface="Aptos Narrow" panose="020B0004020202020204" pitchFamily="34" charset="0"/>
                      </a:endParaRPr>
                    </a:p>
                  </a:txBody>
                  <a:tcPr marL="6350" marR="6350" marT="6350" marB="0" anchor="ctr"/>
                </a:tc>
                <a:tc>
                  <a:txBody>
                    <a:bodyPr/>
                    <a:lstStyle/>
                    <a:p>
                      <a:pPr algn="r" fontAlgn="b"/>
                      <a:r>
                        <a:rPr lang="en-US" sz="1800" b="1" u="none" strike="noStrike" dirty="0">
                          <a:effectLst/>
                        </a:rPr>
                        <a:t>2.8</a:t>
                      </a:r>
                      <a:endParaRPr lang="en-US" sz="1800" b="1"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476488353"/>
                  </a:ext>
                </a:extLst>
              </a:tr>
              <a:tr h="433296">
                <a:tc>
                  <a:txBody>
                    <a:bodyPr/>
                    <a:lstStyle/>
                    <a:p>
                      <a:pPr algn="l" fontAlgn="ctr"/>
                      <a:r>
                        <a:rPr lang="en-US" sz="1800" b="1" u="none" strike="noStrike">
                          <a:effectLst/>
                        </a:rPr>
                        <a:t>Total</a:t>
                      </a:r>
                      <a:endParaRPr lang="en-US" sz="1800" b="1"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r>
                        <a:rPr lang="en-US" sz="1800" b="1" u="none" strike="noStrike">
                          <a:effectLst/>
                        </a:rPr>
                        <a:t>493 </a:t>
                      </a:r>
                      <a:endParaRPr lang="en-US" sz="1800" b="1" i="0" u="none" strike="noStrike">
                        <a:solidFill>
                          <a:srgbClr val="000000"/>
                        </a:solidFill>
                        <a:effectLst/>
                        <a:latin typeface="Aptos Narrow" panose="020B0004020202020204" pitchFamily="34" charset="0"/>
                      </a:endParaRPr>
                    </a:p>
                  </a:txBody>
                  <a:tcPr marL="6350" marR="6350" marT="6350" marB="0" anchor="ctr"/>
                </a:tc>
                <a:tc>
                  <a:txBody>
                    <a:bodyPr/>
                    <a:lstStyle/>
                    <a:p>
                      <a:pPr algn="r" fontAlgn="b"/>
                      <a:r>
                        <a:rPr lang="en-US" sz="1800" b="1" u="none" strike="noStrike" dirty="0">
                          <a:effectLst/>
                        </a:rPr>
                        <a:t>100</a:t>
                      </a:r>
                      <a:endParaRPr lang="en-US" sz="1800" b="1"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962380608"/>
                  </a:ext>
                </a:extLst>
              </a:tr>
            </a:tbl>
          </a:graphicData>
        </a:graphic>
      </p:graphicFrame>
    </p:spTree>
    <p:extLst>
      <p:ext uri="{BB962C8B-B14F-4D97-AF65-F5344CB8AC3E}">
        <p14:creationId xmlns:p14="http://schemas.microsoft.com/office/powerpoint/2010/main" val="23851990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9E5C6-B034-0D88-98BA-2F25C534CB61}"/>
              </a:ext>
            </a:extLst>
          </p:cNvPr>
          <p:cNvSpPr>
            <a:spLocks noGrp="1"/>
          </p:cNvSpPr>
          <p:nvPr>
            <p:ph type="title"/>
          </p:nvPr>
        </p:nvSpPr>
        <p:spPr>
          <a:xfrm>
            <a:off x="2276060" y="365125"/>
            <a:ext cx="9077739" cy="936901"/>
          </a:xfrm>
        </p:spPr>
        <p:txBody>
          <a:bodyPr/>
          <a:lstStyle/>
          <a:p>
            <a:r>
              <a:rPr lang="en-US" dirty="0"/>
              <a:t>Intake 17</a:t>
            </a:r>
          </a:p>
        </p:txBody>
      </p:sp>
      <p:graphicFrame>
        <p:nvGraphicFramePr>
          <p:cNvPr id="4" name="Content Placeholder 3">
            <a:extLst>
              <a:ext uri="{FF2B5EF4-FFF2-40B4-BE49-F238E27FC236}">
                <a16:creationId xmlns:a16="http://schemas.microsoft.com/office/drawing/2014/main" id="{2312A77A-F413-A890-5A77-7653759AD85F}"/>
              </a:ext>
            </a:extLst>
          </p:cNvPr>
          <p:cNvGraphicFramePr>
            <a:graphicFrameLocks noGrp="1"/>
          </p:cNvGraphicFramePr>
          <p:nvPr>
            <p:ph idx="1"/>
            <p:extLst>
              <p:ext uri="{D42A27DB-BD31-4B8C-83A1-F6EECF244321}">
                <p14:modId xmlns:p14="http://schemas.microsoft.com/office/powerpoint/2010/main" val="4187150274"/>
              </p:ext>
            </p:extLst>
          </p:nvPr>
        </p:nvGraphicFramePr>
        <p:xfrm>
          <a:off x="778013" y="1821068"/>
          <a:ext cx="4400274" cy="3722525"/>
        </p:xfrm>
        <a:graphic>
          <a:graphicData uri="http://schemas.openxmlformats.org/drawingml/2006/table">
            <a:tbl>
              <a:tblPr>
                <a:tableStyleId>{5C22544A-7EE6-4342-B048-85BDC9FD1C3A}</a:tableStyleId>
              </a:tblPr>
              <a:tblGrid>
                <a:gridCol w="2385022">
                  <a:extLst>
                    <a:ext uri="{9D8B030D-6E8A-4147-A177-3AD203B41FA5}">
                      <a16:colId xmlns:a16="http://schemas.microsoft.com/office/drawing/2014/main" val="1232237717"/>
                    </a:ext>
                  </a:extLst>
                </a:gridCol>
                <a:gridCol w="1072336">
                  <a:extLst>
                    <a:ext uri="{9D8B030D-6E8A-4147-A177-3AD203B41FA5}">
                      <a16:colId xmlns:a16="http://schemas.microsoft.com/office/drawing/2014/main" val="3500460127"/>
                    </a:ext>
                  </a:extLst>
                </a:gridCol>
                <a:gridCol w="942916">
                  <a:extLst>
                    <a:ext uri="{9D8B030D-6E8A-4147-A177-3AD203B41FA5}">
                      <a16:colId xmlns:a16="http://schemas.microsoft.com/office/drawing/2014/main" val="1972664632"/>
                    </a:ext>
                  </a:extLst>
                </a:gridCol>
              </a:tblGrid>
              <a:tr h="720434">
                <a:tc>
                  <a:txBody>
                    <a:bodyPr/>
                    <a:lstStyle/>
                    <a:p>
                      <a:pPr algn="l" fontAlgn="ctr"/>
                      <a:r>
                        <a:rPr lang="en-US" sz="2400" b="1" u="none" strike="noStrike">
                          <a:effectLst/>
                        </a:rPr>
                        <a:t>Summary – Intake 17</a:t>
                      </a:r>
                      <a:endParaRPr lang="en-US" sz="2400" b="1" i="0" u="none" strike="noStrike">
                        <a:solidFill>
                          <a:srgbClr val="000000"/>
                        </a:solidFill>
                        <a:effectLst/>
                        <a:latin typeface="Calibri" panose="020F0502020204030204" pitchFamily="34" charset="0"/>
                      </a:endParaRPr>
                    </a:p>
                  </a:txBody>
                  <a:tcPr marL="6350" marR="6350" marT="6350" marB="0" anchor="ctr"/>
                </a:tc>
                <a:tc>
                  <a:txBody>
                    <a:bodyPr/>
                    <a:lstStyle/>
                    <a:p>
                      <a:pPr algn="l" fontAlgn="b"/>
                      <a:endParaRPr lang="en-US" sz="2000" b="1" i="0" u="none" strike="noStrike">
                        <a:solidFill>
                          <a:srgbClr val="000000"/>
                        </a:solidFill>
                        <a:effectLst/>
                        <a:latin typeface="Calibri" panose="020F0502020204030204" pitchFamily="34" charset="0"/>
                      </a:endParaRPr>
                    </a:p>
                  </a:txBody>
                  <a:tcPr marL="6350" marR="6350" marT="6350" marB="0" anchor="b"/>
                </a:tc>
                <a:tc>
                  <a:txBody>
                    <a:bodyPr/>
                    <a:lstStyle/>
                    <a:p>
                      <a:pPr algn="l" fontAlgn="b"/>
                      <a:endParaRPr lang="en-US" sz="20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491676638"/>
                  </a:ext>
                </a:extLst>
              </a:tr>
              <a:tr h="596931">
                <a:tc>
                  <a:txBody>
                    <a:bodyPr/>
                    <a:lstStyle/>
                    <a:p>
                      <a:pPr algn="l" fontAlgn="ctr"/>
                      <a:r>
                        <a:rPr lang="en-US" sz="2000" b="1" u="none" strike="noStrike" dirty="0">
                          <a:effectLst/>
                        </a:rPr>
                        <a:t>Category</a:t>
                      </a:r>
                      <a:endParaRPr lang="en-US" sz="20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en-US" sz="2000" b="1" u="none" strike="noStrike">
                          <a:effectLst/>
                        </a:rPr>
                        <a:t>Count</a:t>
                      </a:r>
                      <a:endParaRPr lang="en-US" sz="20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r>
                        <a:rPr lang="en-US" sz="2000" b="1" u="none" strike="noStrike">
                          <a:effectLst/>
                        </a:rPr>
                        <a:t>%</a:t>
                      </a:r>
                      <a:endParaRPr lang="en-US" sz="2000" b="1"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119946004"/>
                  </a:ext>
                </a:extLst>
              </a:tr>
              <a:tr h="596931">
                <a:tc>
                  <a:txBody>
                    <a:bodyPr/>
                    <a:lstStyle/>
                    <a:p>
                      <a:pPr algn="l" fontAlgn="ctr"/>
                      <a:r>
                        <a:rPr lang="en-US" sz="2000" b="1" u="none" strike="noStrike">
                          <a:effectLst/>
                        </a:rPr>
                        <a:t>Active</a:t>
                      </a:r>
                      <a:endParaRPr lang="en-US" sz="20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r>
                        <a:rPr lang="en-US" sz="2000" b="1" u="none" strike="noStrike">
                          <a:effectLst/>
                        </a:rPr>
                        <a:t>294</a:t>
                      </a:r>
                      <a:endParaRPr lang="en-US" sz="2000" b="1" i="0" u="none" strike="noStrike">
                        <a:solidFill>
                          <a:srgbClr val="000000"/>
                        </a:solidFill>
                        <a:effectLst/>
                        <a:latin typeface="Calibri" panose="020F0502020204030204" pitchFamily="34" charset="0"/>
                      </a:endParaRPr>
                    </a:p>
                  </a:txBody>
                  <a:tcPr marL="6350" marR="6350" marT="6350" marB="0" anchor="ctr"/>
                </a:tc>
                <a:tc>
                  <a:txBody>
                    <a:bodyPr/>
                    <a:lstStyle/>
                    <a:p>
                      <a:pPr algn="r" fontAlgn="b"/>
                      <a:r>
                        <a:rPr lang="en-US" sz="2000" b="1" u="none" strike="noStrike">
                          <a:effectLst/>
                        </a:rPr>
                        <a:t>84.2</a:t>
                      </a:r>
                      <a:endParaRPr lang="en-US" sz="20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983943933"/>
                  </a:ext>
                </a:extLst>
              </a:tr>
              <a:tr h="596931">
                <a:tc>
                  <a:txBody>
                    <a:bodyPr/>
                    <a:lstStyle/>
                    <a:p>
                      <a:pPr algn="l" fontAlgn="ctr"/>
                      <a:r>
                        <a:rPr lang="en-US" sz="2000" b="1" u="none" strike="noStrike">
                          <a:effectLst/>
                        </a:rPr>
                        <a:t>Inactive</a:t>
                      </a:r>
                      <a:endParaRPr lang="en-US" sz="20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r>
                        <a:rPr lang="en-US" sz="2000" b="1" u="none" strike="noStrike">
                          <a:effectLst/>
                        </a:rPr>
                        <a:t>20</a:t>
                      </a:r>
                      <a:endParaRPr lang="en-US" sz="2000" b="1" i="0" u="none" strike="noStrike">
                        <a:solidFill>
                          <a:srgbClr val="000000"/>
                        </a:solidFill>
                        <a:effectLst/>
                        <a:latin typeface="Calibri" panose="020F0502020204030204" pitchFamily="34" charset="0"/>
                      </a:endParaRPr>
                    </a:p>
                  </a:txBody>
                  <a:tcPr marL="6350" marR="6350" marT="6350" marB="0" anchor="ctr"/>
                </a:tc>
                <a:tc>
                  <a:txBody>
                    <a:bodyPr/>
                    <a:lstStyle/>
                    <a:p>
                      <a:pPr algn="r" fontAlgn="b"/>
                      <a:r>
                        <a:rPr lang="en-US" sz="2000" b="1" u="none" strike="noStrike" dirty="0">
                          <a:effectLst/>
                        </a:rPr>
                        <a:t>5.7</a:t>
                      </a:r>
                      <a:endParaRPr lang="en-US" sz="2000" b="1"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306877670"/>
                  </a:ext>
                </a:extLst>
              </a:tr>
              <a:tr h="596931">
                <a:tc>
                  <a:txBody>
                    <a:bodyPr/>
                    <a:lstStyle/>
                    <a:p>
                      <a:pPr algn="l" fontAlgn="ctr"/>
                      <a:r>
                        <a:rPr lang="en-US" sz="2000" b="1" u="none" strike="noStrike">
                          <a:effectLst/>
                        </a:rPr>
                        <a:t>Dropped</a:t>
                      </a:r>
                      <a:endParaRPr lang="en-US" sz="20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r>
                        <a:rPr lang="en-US" sz="2000" b="1" u="none" strike="noStrike">
                          <a:effectLst/>
                        </a:rPr>
                        <a:t>35</a:t>
                      </a:r>
                      <a:endParaRPr lang="en-US" sz="2000" b="1" i="0" u="none" strike="noStrike">
                        <a:solidFill>
                          <a:srgbClr val="000000"/>
                        </a:solidFill>
                        <a:effectLst/>
                        <a:latin typeface="Calibri" panose="020F0502020204030204" pitchFamily="34" charset="0"/>
                      </a:endParaRPr>
                    </a:p>
                  </a:txBody>
                  <a:tcPr marL="6350" marR="6350" marT="6350" marB="0" anchor="ctr"/>
                </a:tc>
                <a:tc>
                  <a:txBody>
                    <a:bodyPr/>
                    <a:lstStyle/>
                    <a:p>
                      <a:pPr algn="r" fontAlgn="b"/>
                      <a:r>
                        <a:rPr lang="en-US" sz="2000" b="1" u="none" strike="noStrike">
                          <a:effectLst/>
                        </a:rPr>
                        <a:t>10.0</a:t>
                      </a:r>
                      <a:endParaRPr lang="en-US" sz="20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750128835"/>
                  </a:ext>
                </a:extLst>
              </a:tr>
              <a:tr h="596931">
                <a:tc>
                  <a:txBody>
                    <a:bodyPr/>
                    <a:lstStyle/>
                    <a:p>
                      <a:pPr algn="l" fontAlgn="ctr"/>
                      <a:r>
                        <a:rPr lang="en-US" sz="2000" b="1" u="none" strike="noStrike">
                          <a:effectLst/>
                        </a:rPr>
                        <a:t>Total</a:t>
                      </a:r>
                      <a:endParaRPr lang="en-US" sz="20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r>
                        <a:rPr lang="en-US" sz="2000" b="1" u="none" strike="noStrike">
                          <a:effectLst/>
                        </a:rPr>
                        <a:t>349 </a:t>
                      </a:r>
                      <a:endParaRPr lang="en-US" sz="2000" b="1" i="0" u="none" strike="noStrike">
                        <a:solidFill>
                          <a:srgbClr val="000000"/>
                        </a:solidFill>
                        <a:effectLst/>
                        <a:latin typeface="Calibri" panose="020F0502020204030204" pitchFamily="34" charset="0"/>
                      </a:endParaRPr>
                    </a:p>
                  </a:txBody>
                  <a:tcPr marL="6350" marR="6350" marT="6350" marB="0" anchor="ctr"/>
                </a:tc>
                <a:tc>
                  <a:txBody>
                    <a:bodyPr/>
                    <a:lstStyle/>
                    <a:p>
                      <a:pPr algn="r" fontAlgn="b"/>
                      <a:r>
                        <a:rPr lang="en-US" sz="2000" b="1" u="none" strike="noStrike" dirty="0">
                          <a:effectLst/>
                        </a:rPr>
                        <a:t>100</a:t>
                      </a:r>
                      <a:endParaRPr lang="en-US" sz="2000" b="1"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995560276"/>
                  </a:ext>
                </a:extLst>
              </a:tr>
            </a:tbl>
          </a:graphicData>
        </a:graphic>
      </p:graphicFrame>
      <p:graphicFrame>
        <p:nvGraphicFramePr>
          <p:cNvPr id="5" name="Chart 4">
            <a:extLst>
              <a:ext uri="{FF2B5EF4-FFF2-40B4-BE49-F238E27FC236}">
                <a16:creationId xmlns:a16="http://schemas.microsoft.com/office/drawing/2014/main" id="{F50AB73C-604F-7528-8BFC-DEAFF37EEC90}"/>
              </a:ext>
            </a:extLst>
          </p:cNvPr>
          <p:cNvGraphicFramePr>
            <a:graphicFrameLocks/>
          </p:cNvGraphicFramePr>
          <p:nvPr>
            <p:extLst>
              <p:ext uri="{D42A27DB-BD31-4B8C-83A1-F6EECF244321}">
                <p14:modId xmlns:p14="http://schemas.microsoft.com/office/powerpoint/2010/main" val="4029965385"/>
              </p:ext>
            </p:extLst>
          </p:nvPr>
        </p:nvGraphicFramePr>
        <p:xfrm>
          <a:off x="5430077" y="1043609"/>
          <a:ext cx="6337853" cy="502919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63396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D7E46-5A6E-33A7-80DB-17CF4C04706A}"/>
              </a:ext>
            </a:extLst>
          </p:cNvPr>
          <p:cNvSpPr>
            <a:spLocks noGrp="1"/>
          </p:cNvSpPr>
          <p:nvPr>
            <p:ph type="title"/>
          </p:nvPr>
        </p:nvSpPr>
        <p:spPr>
          <a:xfrm>
            <a:off x="2176670" y="365126"/>
            <a:ext cx="9177130" cy="1016414"/>
          </a:xfrm>
        </p:spPr>
        <p:txBody>
          <a:bodyPr/>
          <a:lstStyle/>
          <a:p>
            <a:r>
              <a:rPr lang="en-US" b="1" dirty="0"/>
              <a:t>Intake 18</a:t>
            </a:r>
          </a:p>
        </p:txBody>
      </p:sp>
      <p:graphicFrame>
        <p:nvGraphicFramePr>
          <p:cNvPr id="4" name="Content Placeholder 3">
            <a:extLst>
              <a:ext uri="{FF2B5EF4-FFF2-40B4-BE49-F238E27FC236}">
                <a16:creationId xmlns:a16="http://schemas.microsoft.com/office/drawing/2014/main" id="{EBEEDBDE-94A8-58B7-1E76-390D5F503B5C}"/>
              </a:ext>
            </a:extLst>
          </p:cNvPr>
          <p:cNvGraphicFramePr>
            <a:graphicFrameLocks noGrp="1"/>
          </p:cNvGraphicFramePr>
          <p:nvPr>
            <p:ph idx="1"/>
            <p:extLst>
              <p:ext uri="{D42A27DB-BD31-4B8C-83A1-F6EECF244321}">
                <p14:modId xmlns:p14="http://schemas.microsoft.com/office/powerpoint/2010/main" val="3371552065"/>
              </p:ext>
            </p:extLst>
          </p:nvPr>
        </p:nvGraphicFramePr>
        <p:xfrm>
          <a:off x="827708" y="2058193"/>
          <a:ext cx="4440031" cy="3577295"/>
        </p:xfrm>
        <a:graphic>
          <a:graphicData uri="http://schemas.openxmlformats.org/drawingml/2006/table">
            <a:tbl>
              <a:tblPr>
                <a:tableStyleId>{5C22544A-7EE6-4342-B048-85BDC9FD1C3A}</a:tableStyleId>
              </a:tblPr>
              <a:tblGrid>
                <a:gridCol w="2406572">
                  <a:extLst>
                    <a:ext uri="{9D8B030D-6E8A-4147-A177-3AD203B41FA5}">
                      <a16:colId xmlns:a16="http://schemas.microsoft.com/office/drawing/2014/main" val="2194681469"/>
                    </a:ext>
                  </a:extLst>
                </a:gridCol>
                <a:gridCol w="1082024">
                  <a:extLst>
                    <a:ext uri="{9D8B030D-6E8A-4147-A177-3AD203B41FA5}">
                      <a16:colId xmlns:a16="http://schemas.microsoft.com/office/drawing/2014/main" val="3160479912"/>
                    </a:ext>
                  </a:extLst>
                </a:gridCol>
                <a:gridCol w="951435">
                  <a:extLst>
                    <a:ext uri="{9D8B030D-6E8A-4147-A177-3AD203B41FA5}">
                      <a16:colId xmlns:a16="http://schemas.microsoft.com/office/drawing/2014/main" val="3195992407"/>
                    </a:ext>
                  </a:extLst>
                </a:gridCol>
              </a:tblGrid>
              <a:tr h="695585">
                <a:tc>
                  <a:txBody>
                    <a:bodyPr/>
                    <a:lstStyle/>
                    <a:p>
                      <a:pPr algn="l" fontAlgn="ctr"/>
                      <a:r>
                        <a:rPr lang="en-US" sz="2000" b="1" u="none" strike="noStrike">
                          <a:effectLst/>
                        </a:rPr>
                        <a:t>Summary – Intake 18</a:t>
                      </a:r>
                      <a:endParaRPr lang="en-US" sz="2000" b="1" i="0" u="none" strike="noStrike">
                        <a:solidFill>
                          <a:srgbClr val="000000"/>
                        </a:solidFill>
                        <a:effectLst/>
                        <a:latin typeface="Calibri" panose="020F0502020204030204" pitchFamily="34" charset="0"/>
                      </a:endParaRPr>
                    </a:p>
                  </a:txBody>
                  <a:tcPr marL="6350" marR="6350" marT="6350" marB="0" anchor="ctr"/>
                </a:tc>
                <a:tc>
                  <a:txBody>
                    <a:bodyPr/>
                    <a:lstStyle/>
                    <a:p>
                      <a:pPr algn="l" fontAlgn="b"/>
                      <a:endParaRPr lang="en-US" sz="1800" b="1" i="0" u="none" strike="noStrike">
                        <a:solidFill>
                          <a:srgbClr val="000000"/>
                        </a:solidFill>
                        <a:effectLst/>
                        <a:latin typeface="Calibri" panose="020F0502020204030204" pitchFamily="34" charset="0"/>
                      </a:endParaRPr>
                    </a:p>
                  </a:txBody>
                  <a:tcPr marL="6350" marR="6350" marT="6350" marB="0" anchor="b"/>
                </a:tc>
                <a:tc>
                  <a:txBody>
                    <a:bodyPr/>
                    <a:lstStyle/>
                    <a:p>
                      <a:pPr algn="l" fontAlgn="b"/>
                      <a:endParaRPr lang="en-US" sz="18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98790053"/>
                  </a:ext>
                </a:extLst>
              </a:tr>
              <a:tr h="576342">
                <a:tc>
                  <a:txBody>
                    <a:bodyPr/>
                    <a:lstStyle/>
                    <a:p>
                      <a:pPr algn="l" fontAlgn="ctr"/>
                      <a:r>
                        <a:rPr lang="en-US" sz="1800" b="1" u="none" strike="noStrike" dirty="0">
                          <a:effectLst/>
                        </a:rPr>
                        <a:t>Category</a:t>
                      </a:r>
                      <a:endParaRPr lang="en-US" sz="18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en-US" sz="1800" b="1" u="none" strike="noStrike">
                          <a:effectLst/>
                        </a:rPr>
                        <a:t>Count</a:t>
                      </a:r>
                      <a:endParaRPr lang="en-US" sz="18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r>
                        <a:rPr lang="en-US" sz="1800" b="1" u="none" strike="noStrike">
                          <a:effectLst/>
                        </a:rPr>
                        <a:t>%</a:t>
                      </a:r>
                      <a:endParaRPr lang="en-US" sz="1800" b="1"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540303503"/>
                  </a:ext>
                </a:extLst>
              </a:tr>
              <a:tr h="576342">
                <a:tc>
                  <a:txBody>
                    <a:bodyPr/>
                    <a:lstStyle/>
                    <a:p>
                      <a:pPr algn="l" fontAlgn="ctr"/>
                      <a:r>
                        <a:rPr lang="en-US" sz="1800" b="1" u="none" strike="noStrike" dirty="0">
                          <a:effectLst/>
                        </a:rPr>
                        <a:t>Active</a:t>
                      </a:r>
                      <a:endParaRPr lang="en-US" sz="18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ctr" fontAlgn="ctr"/>
                      <a:r>
                        <a:rPr lang="en-US" sz="1800" b="1" u="none" strike="noStrike" dirty="0">
                          <a:effectLst/>
                        </a:rPr>
                        <a:t>350</a:t>
                      </a:r>
                      <a:endParaRPr lang="en-US" sz="18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r" fontAlgn="b"/>
                      <a:r>
                        <a:rPr lang="en-US" sz="1800" b="1" u="none" strike="noStrike">
                          <a:effectLst/>
                        </a:rPr>
                        <a:t>82.4</a:t>
                      </a:r>
                      <a:endParaRPr lang="en-US" sz="1800" b="1"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2041778901"/>
                  </a:ext>
                </a:extLst>
              </a:tr>
              <a:tr h="576342">
                <a:tc>
                  <a:txBody>
                    <a:bodyPr/>
                    <a:lstStyle/>
                    <a:p>
                      <a:pPr algn="l" fontAlgn="ctr"/>
                      <a:r>
                        <a:rPr lang="en-US" sz="1800" b="1" u="none" strike="noStrike">
                          <a:effectLst/>
                        </a:rPr>
                        <a:t>Inactive</a:t>
                      </a:r>
                      <a:endParaRPr lang="en-US" sz="18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r>
                        <a:rPr lang="en-US" sz="1800" b="1" u="none" strike="noStrike" dirty="0">
                          <a:effectLst/>
                        </a:rPr>
                        <a:t>56</a:t>
                      </a:r>
                      <a:endParaRPr lang="en-US" sz="18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r" fontAlgn="b"/>
                      <a:r>
                        <a:rPr lang="en-US" sz="1800" b="1" u="none" strike="noStrike" dirty="0">
                          <a:effectLst/>
                        </a:rPr>
                        <a:t>13.2</a:t>
                      </a:r>
                      <a:endParaRPr lang="en-US" sz="1800" b="1"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978254286"/>
                  </a:ext>
                </a:extLst>
              </a:tr>
              <a:tr h="576342">
                <a:tc>
                  <a:txBody>
                    <a:bodyPr/>
                    <a:lstStyle/>
                    <a:p>
                      <a:pPr algn="l" fontAlgn="ctr"/>
                      <a:r>
                        <a:rPr lang="en-US" sz="1800" b="1" u="none" strike="noStrike">
                          <a:effectLst/>
                        </a:rPr>
                        <a:t>Dropped</a:t>
                      </a:r>
                      <a:endParaRPr lang="en-US" sz="18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r>
                        <a:rPr lang="en-US" sz="1800" b="1" u="none" strike="noStrike" dirty="0">
                          <a:effectLst/>
                        </a:rPr>
                        <a:t>19</a:t>
                      </a:r>
                      <a:endParaRPr lang="en-US" sz="1800" b="1" i="0" u="none" strike="noStrike" dirty="0">
                        <a:solidFill>
                          <a:srgbClr val="000000"/>
                        </a:solidFill>
                        <a:effectLst/>
                        <a:latin typeface="Calibri" panose="020F0502020204030204" pitchFamily="34" charset="0"/>
                      </a:endParaRPr>
                    </a:p>
                  </a:txBody>
                  <a:tcPr marL="6350" marR="6350" marT="6350" marB="0" anchor="ctr"/>
                </a:tc>
                <a:tc>
                  <a:txBody>
                    <a:bodyPr/>
                    <a:lstStyle/>
                    <a:p>
                      <a:pPr algn="r" fontAlgn="b"/>
                      <a:r>
                        <a:rPr lang="en-US" sz="1800" b="1" u="none" strike="noStrike" dirty="0">
                          <a:effectLst/>
                        </a:rPr>
                        <a:t>4.5</a:t>
                      </a:r>
                      <a:endParaRPr lang="en-US" sz="1800" b="1"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574743813"/>
                  </a:ext>
                </a:extLst>
              </a:tr>
              <a:tr h="576342">
                <a:tc>
                  <a:txBody>
                    <a:bodyPr/>
                    <a:lstStyle/>
                    <a:p>
                      <a:pPr algn="l" fontAlgn="ctr"/>
                      <a:r>
                        <a:rPr lang="en-US" sz="1800" b="1" u="none" strike="noStrike">
                          <a:effectLst/>
                        </a:rPr>
                        <a:t>Total</a:t>
                      </a:r>
                      <a:endParaRPr lang="en-US" sz="18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ctr"/>
                      <a:r>
                        <a:rPr lang="en-US" sz="1800" b="1" u="none" strike="noStrike">
                          <a:effectLst/>
                        </a:rPr>
                        <a:t>425 </a:t>
                      </a:r>
                      <a:endParaRPr lang="en-US" sz="1800" b="1" i="0" u="none" strike="noStrike">
                        <a:solidFill>
                          <a:srgbClr val="000000"/>
                        </a:solidFill>
                        <a:effectLst/>
                        <a:latin typeface="Calibri" panose="020F0502020204030204" pitchFamily="34" charset="0"/>
                      </a:endParaRPr>
                    </a:p>
                  </a:txBody>
                  <a:tcPr marL="6350" marR="6350" marT="6350" marB="0" anchor="ctr"/>
                </a:tc>
                <a:tc>
                  <a:txBody>
                    <a:bodyPr/>
                    <a:lstStyle/>
                    <a:p>
                      <a:pPr algn="r" fontAlgn="b"/>
                      <a:r>
                        <a:rPr lang="en-US" sz="1800" b="1" u="none" strike="noStrike" dirty="0">
                          <a:effectLst/>
                        </a:rPr>
                        <a:t>100</a:t>
                      </a:r>
                      <a:endParaRPr lang="en-US" sz="1800" b="1" i="0" u="none" strike="noStrike" dirty="0">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2949967595"/>
                  </a:ext>
                </a:extLst>
              </a:tr>
            </a:tbl>
          </a:graphicData>
        </a:graphic>
      </p:graphicFrame>
      <p:graphicFrame>
        <p:nvGraphicFramePr>
          <p:cNvPr id="5" name="Chart 4">
            <a:extLst>
              <a:ext uri="{FF2B5EF4-FFF2-40B4-BE49-F238E27FC236}">
                <a16:creationId xmlns:a16="http://schemas.microsoft.com/office/drawing/2014/main" id="{EFDEA308-BD13-E853-9B9E-9A9EF0DD40E4}"/>
              </a:ext>
            </a:extLst>
          </p:cNvPr>
          <p:cNvGraphicFramePr>
            <a:graphicFrameLocks/>
          </p:cNvGraphicFramePr>
          <p:nvPr>
            <p:extLst>
              <p:ext uri="{D42A27DB-BD31-4B8C-83A1-F6EECF244321}">
                <p14:modId xmlns:p14="http://schemas.microsoft.com/office/powerpoint/2010/main" val="4089651223"/>
              </p:ext>
            </p:extLst>
          </p:nvPr>
        </p:nvGraphicFramePr>
        <p:xfrm>
          <a:off x="5267738" y="675861"/>
          <a:ext cx="6599584" cy="538700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577545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9A802268-36FC-0FC3-1B8B-37C9C7A2B838}"/>
              </a:ext>
            </a:extLst>
          </p:cNvPr>
          <p:cNvPicPr>
            <a:picLocks noChangeAspect="1"/>
          </p:cNvPicPr>
          <p:nvPr/>
        </p:nvPicPr>
        <p:blipFill>
          <a:blip r:embed="rId2">
            <a:duotone>
              <a:schemeClr val="bg2">
                <a:shade val="45000"/>
                <a:satMod val="135000"/>
              </a:schemeClr>
              <a:prstClr val="white"/>
            </a:duotone>
          </a:blip>
          <a:srcRect l="9091" t="11526" b="18663"/>
          <a:stretch/>
        </p:blipFill>
        <p:spPr>
          <a:xfrm>
            <a:off x="20" y="10"/>
            <a:ext cx="12191980" cy="6857990"/>
          </a:xfrm>
          <a:prstGeom prst="rect">
            <a:avLst/>
          </a:prstGeom>
        </p:spPr>
      </p:pic>
      <p:sp>
        <p:nvSpPr>
          <p:cNvPr id="38" name="Rectangle 37">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32DAAB-1F4A-E5DD-B509-FD5E7E7CD3AA}"/>
              </a:ext>
            </a:extLst>
          </p:cNvPr>
          <p:cNvSpPr>
            <a:spLocks noGrp="1"/>
          </p:cNvSpPr>
          <p:nvPr>
            <p:ph type="title"/>
          </p:nvPr>
        </p:nvSpPr>
        <p:spPr>
          <a:xfrm>
            <a:off x="750065" y="-185719"/>
            <a:ext cx="10515600" cy="1325563"/>
          </a:xfrm>
        </p:spPr>
        <p:txBody>
          <a:bodyPr vert="horz" lIns="91440" tIns="45720" rIns="91440" bIns="45720" rtlCol="0">
            <a:normAutofit/>
          </a:bodyPr>
          <a:lstStyle/>
          <a:p>
            <a:r>
              <a:rPr lang="en-US" b="1" dirty="0"/>
              <a:t>Campus Highlights</a:t>
            </a:r>
          </a:p>
        </p:txBody>
      </p:sp>
      <p:graphicFrame>
        <p:nvGraphicFramePr>
          <p:cNvPr id="34" name="TextBox 4">
            <a:extLst>
              <a:ext uri="{FF2B5EF4-FFF2-40B4-BE49-F238E27FC236}">
                <a16:creationId xmlns:a16="http://schemas.microsoft.com/office/drawing/2014/main" id="{EF75D59B-6238-E14B-B631-8F1B711D3877}"/>
              </a:ext>
            </a:extLst>
          </p:cNvPr>
          <p:cNvGraphicFramePr/>
          <p:nvPr>
            <p:extLst>
              <p:ext uri="{D42A27DB-BD31-4B8C-83A1-F6EECF244321}">
                <p14:modId xmlns:p14="http://schemas.microsoft.com/office/powerpoint/2010/main" val="1556070735"/>
              </p:ext>
            </p:extLst>
          </p:nvPr>
        </p:nvGraphicFramePr>
        <p:xfrm>
          <a:off x="838200" y="1465242"/>
          <a:ext cx="10515600" cy="58011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descr="A person standing next to a large lamp&#10;&#10;AI-generated content may be incorrect.">
            <a:extLst>
              <a:ext uri="{FF2B5EF4-FFF2-40B4-BE49-F238E27FC236}">
                <a16:creationId xmlns:a16="http://schemas.microsoft.com/office/drawing/2014/main" id="{406A40F6-D0E5-1413-F026-1D9D039E9FA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31892" y="1048512"/>
            <a:ext cx="2313515" cy="2509631"/>
          </a:xfrm>
          <a:prstGeom prst="rect">
            <a:avLst/>
          </a:prstGeom>
        </p:spPr>
      </p:pic>
      <p:pic>
        <p:nvPicPr>
          <p:cNvPr id="6" name="Picture 5" descr="A group of people standing in front of a red tent&#10;&#10;AI-generated content may be incorrect.">
            <a:extLst>
              <a:ext uri="{FF2B5EF4-FFF2-40B4-BE49-F238E27FC236}">
                <a16:creationId xmlns:a16="http://schemas.microsoft.com/office/drawing/2014/main" id="{D4F8128F-0400-6C17-6339-C6ECEA105C9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33061" y="5077968"/>
            <a:ext cx="2733261" cy="1767086"/>
          </a:xfrm>
          <a:prstGeom prst="rect">
            <a:avLst/>
          </a:prstGeom>
        </p:spPr>
      </p:pic>
      <p:pic>
        <p:nvPicPr>
          <p:cNvPr id="8" name="Picture 7" descr="A group of people standing on a sidewalk&#10;&#10;AI-generated content may be incorrect.">
            <a:extLst>
              <a:ext uri="{FF2B5EF4-FFF2-40B4-BE49-F238E27FC236}">
                <a16:creationId xmlns:a16="http://schemas.microsoft.com/office/drawing/2014/main" id="{0E60F308-1244-C4FB-B2F8-B8BA06D2A90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840224" y="5077968"/>
            <a:ext cx="2999232" cy="1767086"/>
          </a:xfrm>
          <a:prstGeom prst="rect">
            <a:avLst/>
          </a:prstGeom>
        </p:spPr>
      </p:pic>
      <p:pic>
        <p:nvPicPr>
          <p:cNvPr id="10" name="Picture 9" descr="A crowd of people standing in a line outside a store&#10;&#10;AI-generated content may be incorrect.">
            <a:extLst>
              <a:ext uri="{FF2B5EF4-FFF2-40B4-BE49-F238E27FC236}">
                <a16:creationId xmlns:a16="http://schemas.microsoft.com/office/drawing/2014/main" id="{8B8324A0-F1C2-2261-C568-8C76AC67083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109972" y="958199"/>
            <a:ext cx="2389631" cy="2599944"/>
          </a:xfrm>
          <a:prstGeom prst="rect">
            <a:avLst/>
          </a:prstGeom>
        </p:spPr>
      </p:pic>
    </p:spTree>
    <p:extLst>
      <p:ext uri="{BB962C8B-B14F-4D97-AF65-F5344CB8AC3E}">
        <p14:creationId xmlns:p14="http://schemas.microsoft.com/office/powerpoint/2010/main" val="2433162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29984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11490</TotalTime>
  <Words>407</Words>
  <Application>Microsoft Office PowerPoint</Application>
  <PresentationFormat>Widescreen</PresentationFormat>
  <Paragraphs>244</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SAB Campus Monthly Progress – June 2025 </vt:lpstr>
      <vt:lpstr>PowerPoint Presentation</vt:lpstr>
      <vt:lpstr>Academic Administration Division</vt:lpstr>
      <vt:lpstr>Marketing division</vt:lpstr>
      <vt:lpstr>Examination Division</vt:lpstr>
      <vt:lpstr>Status – Intake 14</vt:lpstr>
      <vt:lpstr>Intake 15</vt:lpstr>
      <vt:lpstr>Intake 16</vt:lpstr>
      <vt:lpstr>Intake 17</vt:lpstr>
      <vt:lpstr>Intake 18</vt:lpstr>
      <vt:lpstr>Campus Highlights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SRI LANKA Presentation</dc:title>
  <dc:creator>Praveen Keshan</dc:creator>
  <cp:lastModifiedBy>Registrar -SAB</cp:lastModifiedBy>
  <cp:revision>18</cp:revision>
  <dcterms:created xsi:type="dcterms:W3CDTF">2025-01-27T05:00:17Z</dcterms:created>
  <dcterms:modified xsi:type="dcterms:W3CDTF">2026-02-21T03:39:22Z</dcterms:modified>
</cp:coreProperties>
</file>